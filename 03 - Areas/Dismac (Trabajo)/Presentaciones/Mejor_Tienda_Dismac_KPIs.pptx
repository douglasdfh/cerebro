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016"/>
            <a:ext cx="91440" cy="50200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128016"/>
            <a:ext cx="2011680" cy="5486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12801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DISMAC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MEJOR TIENDA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DISMAC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91440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Seguimiento de KPIs — Rendimiento del Equipo de Ventas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306324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VENTAS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306324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F1A"/>
                </a:solidFill>
              </a:rPr>
              <a:t>TICKET PROMEDIO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306324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CONVERSIÓN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306324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GARANTÍA EXTENDIDA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4526280"/>
            <a:ext cx="9144000" cy="576072"/>
          </a:xfrm>
          <a:prstGeom prst="rect">
            <a:avLst/>
          </a:prstGeom>
          <a:solidFill>
            <a:srgbClr val="1A2235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526280"/>
            <a:ext cx="8229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Tienda Isabel 2  |  Red Dismac  |  Período: Semanas 5-9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</a:rPr>
              <a:t>MEJOR TIENDA DISMAC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VARIABLES Y PESOS DEL RANKING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457200"/>
          </a:xfrm>
          <a:prstGeom prst="rect">
            <a:avLst/>
          </a:prstGeom>
          <a:solidFill>
            <a:srgbClr val="1A2235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54864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78992"/>
            <a:ext cx="594360" cy="310896"/>
          </a:xfrm>
          <a:prstGeom prst="roundRect">
            <a:avLst>
              <a:gd name="adj" fmla="val 1470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78992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30%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1124712"/>
            <a:ext cx="3200400" cy="109728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1124712"/>
            <a:ext cx="320040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0332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Alcance en Ventas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34840" y="1005840"/>
            <a:ext cx="438912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Llegar o sobrepasar el 100% en ventas vs mes pasado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499616"/>
            <a:ext cx="8595360" cy="457200"/>
          </a:xfrm>
          <a:prstGeom prst="rect">
            <a:avLst/>
          </a:prstGeom>
          <a:solidFill>
            <a:srgbClr val="151E3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499616"/>
            <a:ext cx="54864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1572768"/>
            <a:ext cx="594360" cy="310896"/>
          </a:xfrm>
          <a:prstGeom prst="roundRect">
            <a:avLst>
              <a:gd name="adj" fmla="val 1470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572768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15%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97280" y="1618488"/>
            <a:ext cx="3200400" cy="109728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" y="1618488"/>
            <a:ext cx="1600200" cy="1097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15270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Cliente Encubierto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34840" y="1499616"/>
            <a:ext cx="438912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Llegar al 100 en Mystery Compra y Consulta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1993392"/>
            <a:ext cx="8595360" cy="457200"/>
          </a:xfrm>
          <a:prstGeom prst="rect">
            <a:avLst/>
          </a:prstGeom>
          <a:solidFill>
            <a:srgbClr val="1A2235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1993392"/>
            <a:ext cx="54864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066544"/>
            <a:ext cx="594360" cy="310896"/>
          </a:xfrm>
          <a:prstGeom prst="roundRect">
            <a:avLst>
              <a:gd name="adj" fmla="val 1470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066544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15%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97280" y="2112264"/>
            <a:ext cx="3200400" cy="109728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2112264"/>
            <a:ext cx="1600200" cy="1097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20208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Recompra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34840" y="1993392"/>
            <a:ext cx="438912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Todos los clientes que paguen cuota realicen una recompra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2487168"/>
            <a:ext cx="8595360" cy="457200"/>
          </a:xfrm>
          <a:prstGeom prst="rect">
            <a:avLst/>
          </a:prstGeom>
          <a:solidFill>
            <a:srgbClr val="151E3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2487168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2560320"/>
            <a:ext cx="594360" cy="310896"/>
          </a:xfrm>
          <a:prstGeom prst="roundRect">
            <a:avLst>
              <a:gd name="adj" fmla="val 1470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2560320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A"/>
                </a:solidFill>
              </a:rPr>
              <a:t>10%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097280" y="2606040"/>
            <a:ext cx="3200400" cy="109728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97280" y="2606040"/>
            <a:ext cx="10668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7280" y="2514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Garantías Extendidas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434840" y="2487168"/>
            <a:ext cx="438912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Llegar mínimo al 10% del objetivo mensual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2980944"/>
            <a:ext cx="8595360" cy="457200"/>
          </a:xfrm>
          <a:prstGeom prst="rect">
            <a:avLst/>
          </a:prstGeom>
          <a:solidFill>
            <a:srgbClr val="1A2235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2980944"/>
            <a:ext cx="54864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1480" y="3054096"/>
            <a:ext cx="594360" cy="310896"/>
          </a:xfrm>
          <a:prstGeom prst="roundRect">
            <a:avLst>
              <a:gd name="adj" fmla="val 1470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305409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10%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1097280" y="3099816"/>
            <a:ext cx="3200400" cy="109728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97280" y="3099816"/>
            <a:ext cx="1066800" cy="1097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97280" y="30083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Conversión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434840" y="2980944"/>
            <a:ext cx="438912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Por cada 100 clientes facturar a 5 personas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74320" y="3474720"/>
            <a:ext cx="8595360" cy="457200"/>
          </a:xfrm>
          <a:prstGeom prst="rect">
            <a:avLst/>
          </a:prstGeom>
          <a:solidFill>
            <a:srgbClr val="151E3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4320" y="3474720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1480" y="3547872"/>
            <a:ext cx="594360" cy="310896"/>
          </a:xfrm>
          <a:prstGeom prst="roundRect">
            <a:avLst>
              <a:gd name="adj" fmla="val 1470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3547872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A"/>
                </a:solidFill>
              </a:rPr>
              <a:t>10%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1097280" y="3593592"/>
            <a:ext cx="3200400" cy="109728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97280" y="3593592"/>
            <a:ext cx="10668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97280" y="35021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Ticket Promedio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434840" y="3474720"/>
            <a:ext cx="438912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Por cada factura mínimo Bs 3,500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74320" y="3968496"/>
            <a:ext cx="8595360" cy="457200"/>
          </a:xfrm>
          <a:prstGeom prst="rect">
            <a:avLst/>
          </a:prstGeom>
          <a:solidFill>
            <a:srgbClr val="1A2235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74320" y="3968496"/>
            <a:ext cx="54864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11480" y="4041648"/>
            <a:ext cx="594360" cy="310896"/>
          </a:xfrm>
          <a:prstGeom prst="roundRect">
            <a:avLst>
              <a:gd name="adj" fmla="val 1470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1480" y="4041648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10%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1097280" y="4087368"/>
            <a:ext cx="3200400" cy="109728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97280" y="4087368"/>
            <a:ext cx="106680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97280" y="3995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Ítem por Factura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434840" y="3968496"/>
            <a:ext cx="438912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Por cada factura tener 2 ítems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74320" y="4462272"/>
            <a:ext cx="8595360" cy="457200"/>
          </a:xfrm>
          <a:prstGeom prst="rect">
            <a:avLst/>
          </a:prstGeom>
          <a:solidFill>
            <a:srgbClr val="151E3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74320" y="4462272"/>
            <a:ext cx="54864" cy="4572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11480" y="4535424"/>
            <a:ext cx="594360" cy="310896"/>
          </a:xfrm>
          <a:prstGeom prst="roundRect">
            <a:avLst>
              <a:gd name="adj" fmla="val 14706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11480" y="4535424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0%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1097280" y="4581144"/>
            <a:ext cx="3200400" cy="109728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97280" y="44897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NPS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434840" y="4462272"/>
            <a:ext cx="438912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Net Promoter Score (en proceso)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274320" y="4983480"/>
            <a:ext cx="85953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</a:rPr>
              <a:t>KPI — VENTAS  |  Detalle Semanas 9 y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VENTAS — SEMANAS 9 Y 10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201168" cy="201168"/>
          </a:xfrm>
          <a:prstGeom prst="ellipse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960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</a:rPr>
              <a:t>Semana 9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00600" y="987552"/>
            <a:ext cx="201168" cy="201168"/>
          </a:xfrm>
          <a:prstGeom prst="ellipse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47488" y="960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</a:rPr>
              <a:t>Semana 10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919028"/>
            <a:ext cx="1463040" cy="78429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29921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A"/>
                </a:solidFill>
              </a:rPr>
              <a:t>10,947 Bs.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394516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33945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T.P: 2,606 Bs.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3749040"/>
            <a:ext cx="1463040" cy="621792"/>
          </a:xfrm>
          <a:prstGeom prst="rect">
            <a:avLst/>
          </a:prstGeom>
          <a:solidFill>
            <a:srgbClr val="1A2235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" y="3749040"/>
            <a:ext cx="1389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Giancarlos Sosa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Montenegro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28800" y="2604222"/>
            <a:ext cx="1463040" cy="109909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828800" y="267737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A"/>
                </a:solidFill>
              </a:rPr>
              <a:t>15,341 Bs.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0" y="307971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0" y="307971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T.P: 3,044 Bs.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28800" y="3749040"/>
            <a:ext cx="1463040" cy="621792"/>
          </a:xfrm>
          <a:prstGeom prst="rect">
            <a:avLst/>
          </a:prstGeom>
          <a:solidFill>
            <a:srgbClr val="1A2235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65376" y="3749040"/>
            <a:ext cx="1389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Samuel Vargas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Montero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80560" y="1280160"/>
            <a:ext cx="1463040" cy="242316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480560" y="13533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A"/>
                </a:solidFill>
              </a:rPr>
              <a:t>33,822 Bs.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80560" y="175564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17556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T.P: 5,752 Bs.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480560" y="3749040"/>
            <a:ext cx="1463040" cy="621792"/>
          </a:xfrm>
          <a:prstGeom prst="rect">
            <a:avLst/>
          </a:prstGeom>
          <a:solidFill>
            <a:srgbClr val="1A2235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17136" y="3749040"/>
            <a:ext cx="1389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Giancarlos Sosa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Montenegro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35040" y="2978994"/>
            <a:ext cx="1463040" cy="724326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035040" y="305214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A"/>
                </a:solidFill>
              </a:rPr>
              <a:t>10,110 Bs.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3454482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345448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T.P: 3,009 Bs.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35040" y="3749040"/>
            <a:ext cx="1463040" cy="621792"/>
          </a:xfrm>
          <a:prstGeom prst="rect">
            <a:avLst/>
          </a:prstGeom>
          <a:solidFill>
            <a:srgbClr val="1A2235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71616" y="3749040"/>
            <a:ext cx="1389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Samuel Vargas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Montero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023360" y="987552"/>
            <a:ext cx="0" cy="3977640"/>
          </a:xfrm>
          <a:prstGeom prst="line">
            <a:avLst/>
          </a:prstGeom>
          <a:noFill/>
          <a:ln w="12700">
            <a:solidFill>
              <a:srgbClr val="243050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7498080" y="1005840"/>
            <a:ext cx="1463040" cy="3291840"/>
          </a:xfrm>
          <a:prstGeom prst="rect">
            <a:avLst/>
          </a:prstGeom>
          <a:solidFill>
            <a:srgbClr val="1A2235"/>
          </a:solidFill>
          <a:ln w="12700">
            <a:solidFill>
              <a:srgbClr val="24305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498080" y="1005840"/>
            <a:ext cx="14630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0" y="107899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MEJOR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TICKET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SEM. 10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498080" y="16916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5,752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498080" y="248716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Giancarlos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Sosa M.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498080" y="2971800"/>
            <a:ext cx="1600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98080" y="304495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BAJO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OBJETIVO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SEM. 9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498080" y="35661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A5A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CA5A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2,606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7498080" y="4270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Giancarlos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(obj: 3,500)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0040" y="4663440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0352" y="46451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Ticket ≥ Bs 3,500 (OK)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00400" y="4663440"/>
            <a:ext cx="164592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10712" y="46451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Ticket &lt; Bs 3,500 (Por mejorar)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</a:rPr>
              <a:t>KPI — TICKET PROMEDIO  |  10% del ranking  |  Semanas 9 y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ANÁLISIS DE TICKET PROMEDIO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2103120" cy="1463040"/>
          </a:xfrm>
          <a:prstGeom prst="rect">
            <a:avLst/>
          </a:prstGeom>
          <a:solidFill>
            <a:srgbClr val="1A223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87552"/>
            <a:ext cx="21031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698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</a:rPr>
              <a:t>OBJETIVO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3258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Bs 3,500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74320" y="1920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mínimo por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factura · Peso 10%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987552"/>
            <a:ext cx="3063240" cy="3931920"/>
          </a:xfrm>
          <a:prstGeom prst="rect">
            <a:avLst/>
          </a:prstGeom>
          <a:solidFill>
            <a:srgbClr val="1A2235"/>
          </a:solidFill>
          <a:ln w="12700">
            <a:solidFill>
              <a:srgbClr val="24305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987552"/>
            <a:ext cx="30632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106984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Giancarlos Sosa 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97480" y="1508760"/>
            <a:ext cx="2834640" cy="502920"/>
          </a:xfrm>
          <a:prstGeom prst="rect">
            <a:avLst/>
          </a:prstGeom>
          <a:solidFill>
            <a:srgbClr val="2D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70632" y="15087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Semana 9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977640" y="15087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CA5A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2,606 Bs.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70632" y="153619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697480" y="2057400"/>
            <a:ext cx="2834640" cy="182880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97480" y="2057400"/>
            <a:ext cx="2097634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97480" y="225856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74% del obj.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697480" y="2487168"/>
            <a:ext cx="2834640" cy="502920"/>
          </a:xfrm>
          <a:prstGeom prst="rect">
            <a:avLst/>
          </a:prstGeom>
          <a:solidFill>
            <a:srgbClr val="00382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70632" y="24871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Semana 10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77640" y="248716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5,752 Bs.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770632" y="2514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697480" y="3035808"/>
            <a:ext cx="2834640" cy="182880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97480" y="3035808"/>
            <a:ext cx="283464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97480" y="323697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164% del obj.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97480" y="3474720"/>
            <a:ext cx="2834640" cy="411480"/>
          </a:xfrm>
          <a:prstGeom prst="rect">
            <a:avLst/>
          </a:prstGeom>
          <a:solidFill>
            <a:srgbClr val="0D1525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70632" y="3474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Variación Sem9→10: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26280" y="34747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⬆ +120%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697480" y="3931920"/>
            <a:ext cx="2834640" cy="411480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0" y="3931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⭐  Mejor ticket Sem. 10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852160" y="987552"/>
            <a:ext cx="3063240" cy="3931920"/>
          </a:xfrm>
          <a:prstGeom prst="rect">
            <a:avLst/>
          </a:prstGeom>
          <a:solidFill>
            <a:srgbClr val="1A2235"/>
          </a:solidFill>
          <a:ln w="12700">
            <a:solidFill>
              <a:srgbClr val="24305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852160" y="987552"/>
            <a:ext cx="30632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106984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Samuel Vargas M.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943600" y="1508760"/>
            <a:ext cx="2834640" cy="502920"/>
          </a:xfrm>
          <a:prstGeom prst="rect">
            <a:avLst/>
          </a:prstGeom>
          <a:solidFill>
            <a:srgbClr val="2D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16752" y="15087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Semana 9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223760" y="15087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CA5A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3,044 Bs.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016752" y="153619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943600" y="2057400"/>
            <a:ext cx="2834640" cy="182880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43600" y="2057400"/>
            <a:ext cx="2466137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0" y="225856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87% del obj.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943600" y="2487168"/>
            <a:ext cx="2834640" cy="502920"/>
          </a:xfrm>
          <a:prstGeom prst="rect">
            <a:avLst/>
          </a:prstGeom>
          <a:solidFill>
            <a:srgbClr val="2D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16752" y="24871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Semana 10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223760" y="248716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CA5A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3,009 Bs.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016752" y="2514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943600" y="3035808"/>
            <a:ext cx="2834640" cy="182880"/>
          </a:xfrm>
          <a:prstGeom prst="rect">
            <a:avLst/>
          </a:prstGeom>
          <a:solidFill>
            <a:srgbClr val="24305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43600" y="3035808"/>
            <a:ext cx="2437790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0" y="323697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86% del obj.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943600" y="3474720"/>
            <a:ext cx="2834640" cy="411480"/>
          </a:xfrm>
          <a:prstGeom prst="rect">
            <a:avLst/>
          </a:prstGeom>
          <a:solidFill>
            <a:srgbClr val="0D1525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16752" y="3474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Variación Sem9→10: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772400" y="34747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➡ -1%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943600" y="3931920"/>
            <a:ext cx="2834640" cy="411480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89320" y="3931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⭐  Muy cerca del obj. ambas semanas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74320" y="46908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</a:rPr>
              <a:t>ACCIÓN CLAVE: Giancarlos debe mantener el ticket alto (Bs 5,752) de Sem.10 todos los días. Samuel debe superar el mínimo de Bs 3,500 consistentemente.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</a:rPr>
              <a:t>KPI — CONVERSIÓN  |  10% del ranking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TASA DE CONVERSIÓN DE LA TIENDA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1371600"/>
          </a:xfrm>
          <a:prstGeom prst="rect">
            <a:avLst/>
          </a:prstGeom>
          <a:solidFill>
            <a:srgbClr val="1A2235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859536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</a:rPr>
              <a:t>FÓRMULA DE CONVERSIÓN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VENTAS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2029968"/>
            <a:ext cx="20116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057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</a:rPr>
              <a:t>TRÁFICO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108960" y="1600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</a:rPr>
              <a:t>× 100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480560" y="1600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BD5E1"/>
                </a:solidFill>
              </a:rPr>
              <a:t>=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120640" y="1463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3C5FD"/>
                </a:solidFill>
              </a:rPr>
              <a:t>% CONVERSIÓN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74320" y="2514600"/>
            <a:ext cx="2011680" cy="1417320"/>
          </a:xfrm>
          <a:prstGeom prst="rect">
            <a:avLst/>
          </a:prstGeom>
          <a:solidFill>
            <a:srgbClr val="1A2235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514600"/>
            <a:ext cx="201168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6060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11,200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274320" y="3273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personas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" y="3566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BD5E1"/>
                </a:solidFill>
              </a:rPr>
              <a:t>Tráfico bruto (mes)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441448" y="2514600"/>
            <a:ext cx="2011680" cy="1417320"/>
          </a:xfrm>
          <a:prstGeom prst="rect">
            <a:avLst/>
          </a:prstGeom>
          <a:solidFill>
            <a:srgbClr val="1A223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441448" y="2514600"/>
            <a:ext cx="201168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41448" y="26060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400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2441448" y="3273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personas/semana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441448" y="3566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BD5E1"/>
                </a:solidFill>
              </a:rPr>
              <a:t>Promedio semanal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08576" y="2514600"/>
            <a:ext cx="2011680" cy="1417320"/>
          </a:xfrm>
          <a:prstGeom prst="rect">
            <a:avLst/>
          </a:prstGeom>
          <a:solidFill>
            <a:srgbClr val="1A223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8576" y="2514600"/>
            <a:ext cx="20116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08576" y="26060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340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4608576" y="3273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facturas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08576" y="3566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BD5E1"/>
                </a:solidFill>
              </a:rPr>
              <a:t>Ventas vigentes (28 días)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775704" y="2514600"/>
            <a:ext cx="2011680" cy="1417320"/>
          </a:xfrm>
          <a:prstGeom prst="rect">
            <a:avLst/>
          </a:prstGeom>
          <a:solidFill>
            <a:srgbClr val="1A2235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75704" y="2514600"/>
            <a:ext cx="201168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75704" y="26060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3.04%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6775704" y="3273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del objetivo: 5%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75704" y="3566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BD5E1"/>
                </a:solidFill>
              </a:rPr>
              <a:t>Conversión actual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4133088"/>
            <a:ext cx="8595360" cy="685800"/>
          </a:xfrm>
          <a:prstGeom prst="rect">
            <a:avLst/>
          </a:prstGeom>
          <a:solidFill>
            <a:srgbClr val="1A0F0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160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⚠️  BRECHA ACTUAL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Conversión actual 3.04%  vs  Objetivo 5%  →  Se necesita facturar 5 de cada 100 clientes que ingresan.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5CF6"/>
                </a:solidFill>
              </a:rPr>
              <a:t>KPI — GARANTÍA EXTENDIDA  |  10% del ranking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OBJETIVOS DE GARANTÍA EXTENDIDA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685800"/>
          </a:xfrm>
          <a:prstGeom prst="rect">
            <a:avLst/>
          </a:prstGeom>
          <a:solidFill>
            <a:srgbClr val="1A1030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85953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332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🎯  Objetivo: Llegar mínimo al 10% del objetivo mensual de ventas en Garantías Extendidas.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755648"/>
            <a:ext cx="8595360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755648"/>
            <a:ext cx="32004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0F1A"/>
                </a:solidFill>
              </a:rPr>
              <a:t>#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8368" y="1755648"/>
            <a:ext cx="292608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0F1A"/>
                </a:solidFill>
              </a:rPr>
              <a:t>EMPLEADO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02736" y="1755648"/>
            <a:ext cx="128016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0F1A"/>
                </a:solidFill>
              </a:rPr>
              <a:t>VENTAS MES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01184" y="1755648"/>
            <a:ext cx="146304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0F1A"/>
                </a:solidFill>
              </a:rPr>
              <a:t>OBJ. MENSUAL (Bs.)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82512" y="1755648"/>
            <a:ext cx="109728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0F1A"/>
                </a:solidFill>
              </a:rPr>
              <a:t>GE 5% OBJ.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498080" y="1755648"/>
            <a:ext cx="150876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0F1A"/>
                </a:solidFill>
              </a:rPr>
              <a:t>DIARIO (*25 días)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148840"/>
            <a:ext cx="8595360" cy="475488"/>
          </a:xfrm>
          <a:prstGeom prst="rect">
            <a:avLst/>
          </a:prstGeom>
          <a:solidFill>
            <a:srgbClr val="1A2235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2231136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231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A"/>
                </a:solidFill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" y="2148840"/>
            <a:ext cx="2907792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Giancarlos Sosa Montenegro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02736" y="2148840"/>
            <a:ext cx="1261872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44,769 Bs.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01184" y="2148840"/>
            <a:ext cx="1444752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Bs 261,000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82512" y="2148840"/>
            <a:ext cx="1078992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Bs 13,050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0" y="2148840"/>
            <a:ext cx="13258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Bs 522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660904"/>
            <a:ext cx="8595360" cy="475488"/>
          </a:xfrm>
          <a:prstGeom prst="rect">
            <a:avLst/>
          </a:prstGeom>
          <a:solidFill>
            <a:srgbClr val="151E3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" y="2743200"/>
            <a:ext cx="310896" cy="31089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2743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A"/>
                </a:solidFill>
              </a:rPr>
              <a:t>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" y="2660904"/>
            <a:ext cx="2907792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Samuel Vargas Montero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02736" y="2660904"/>
            <a:ext cx="1261872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25,451 Bs.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01184" y="2660904"/>
            <a:ext cx="1444752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Bs 261,000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82512" y="2660904"/>
            <a:ext cx="1078992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Bs 13,050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98080" y="2660904"/>
            <a:ext cx="13258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Bs 522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3172968"/>
            <a:ext cx="8595360" cy="475488"/>
          </a:xfrm>
          <a:prstGeom prst="rect">
            <a:avLst/>
          </a:prstGeom>
          <a:solidFill>
            <a:srgbClr val="1A2235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" y="3255264"/>
            <a:ext cx="310896" cy="310896"/>
          </a:xfrm>
          <a:prstGeom prst="ellipse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A"/>
                </a:solidFill>
              </a:rPr>
              <a:t>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8368" y="3172968"/>
            <a:ext cx="2907792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Cristhian Alan Guzmán Rojas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602736" y="3172968"/>
            <a:ext cx="1261872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17,690 Bs.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01184" y="3172968"/>
            <a:ext cx="1444752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Bs 261,000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82512" y="3172968"/>
            <a:ext cx="1078992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Bs 13,050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498080" y="3172968"/>
            <a:ext cx="13258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Bs 522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3685032"/>
            <a:ext cx="8595360" cy="475488"/>
          </a:xfrm>
          <a:prstGeom prst="rect">
            <a:avLst/>
          </a:prstGeom>
          <a:solidFill>
            <a:srgbClr val="151E30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3685032"/>
            <a:ext cx="310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58368" y="3685032"/>
            <a:ext cx="2907792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Sergio André Roncales Claudio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602736" y="3685032"/>
            <a:ext cx="1261872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6,398 Bs.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01184" y="3685032"/>
            <a:ext cx="1444752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Bs 21,750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382512" y="3685032"/>
            <a:ext cx="1078992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Bs 1,087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498080" y="3685032"/>
            <a:ext cx="13258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Bs 544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4320" y="4197096"/>
            <a:ext cx="8595360" cy="475488"/>
          </a:xfrm>
          <a:prstGeom prst="rect">
            <a:avLst/>
          </a:prstGeom>
          <a:solidFill>
            <a:srgbClr val="1A2235"/>
          </a:solidFill>
          <a:ln w="12700">
            <a:solidFill>
              <a:srgbClr val="2430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" y="4197096"/>
            <a:ext cx="310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5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58368" y="4197096"/>
            <a:ext cx="2907792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David Orellana Fonseca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602736" y="4197096"/>
            <a:ext cx="1261872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0.00 Bs.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901184" y="4197096"/>
            <a:ext cx="1444752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Bs 236,250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382512" y="4197096"/>
            <a:ext cx="1078992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Bs 11,812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498080" y="4197096"/>
            <a:ext cx="13258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Bs 514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* El objetivo diario se calcula dividiendo la meta de GE entre 25 días hábiles.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RESUMEN DE ACCIONES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¿Qué necesitamos hacer para ganar el ranking?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206240" cy="1097280"/>
          </a:xfrm>
          <a:prstGeom prst="rect">
            <a:avLst/>
          </a:prstGeom>
          <a:solidFill>
            <a:srgbClr val="1A223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42062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2801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0F1A"/>
                </a:solidFill>
              </a:rPr>
              <a:t>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32688" y="1252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VENTAS (30%)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160020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Superar el 100% de ventas vs mes anterior. Enfocar esfuerzo en los 3 vendedores top.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143000"/>
            <a:ext cx="4206240" cy="1097280"/>
          </a:xfrm>
          <a:prstGeom prst="rect">
            <a:avLst/>
          </a:prstGeom>
          <a:solidFill>
            <a:srgbClr val="1A223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143000"/>
            <a:ext cx="4206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18888" y="12801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0F1A"/>
                </a:solidFill>
              </a:rPr>
              <a:t>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67528" y="1252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TICKET PROM. (10%)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18888" y="160020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Mínimo Bs 3,500 por factura. Upselling, accesorios y garantías en cada atención.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377440"/>
            <a:ext cx="4206240" cy="1097280"/>
          </a:xfrm>
          <a:prstGeom prst="rect">
            <a:avLst/>
          </a:prstGeom>
          <a:solidFill>
            <a:srgbClr val="1A2235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377440"/>
            <a:ext cx="42062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251460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0F1A"/>
                </a:solidFill>
              </a:rPr>
              <a:t>🎯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2688" y="24871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CONVERSIÓN (10%)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048" y="283464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De cada 100 visitantes, facturar al menos 5. Conversión actual: 3.04% → Meta: 5%.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2377440"/>
            <a:ext cx="4206240" cy="1097280"/>
          </a:xfrm>
          <a:prstGeom prst="rect">
            <a:avLst/>
          </a:prstGeom>
          <a:solidFill>
            <a:srgbClr val="1A223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377440"/>
            <a:ext cx="420624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18888" y="251460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0F1A"/>
                </a:solidFill>
              </a:rPr>
              <a:t>🛡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67528" y="24871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</a:rPr>
              <a:t>GE (10%)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18888" y="283464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Ofrecer garantía extendida en CADA venta. Objetivo diario mínimo Bs 514-544 por vendedor.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611880"/>
            <a:ext cx="4206240" cy="1097280"/>
          </a:xfrm>
          <a:prstGeom prst="rect">
            <a:avLst/>
          </a:prstGeom>
          <a:solidFill>
            <a:srgbClr val="1A2235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611880"/>
            <a:ext cx="42062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" y="374904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0F1A"/>
                </a:solidFill>
              </a:rPr>
              <a:t>🔄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32688" y="37216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RECOMPRA (15%)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84048" y="40690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Contactar clientes con cuota pendiente para generar recompra activa.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3611880"/>
            <a:ext cx="4206240" cy="1097280"/>
          </a:xfrm>
          <a:prstGeom prst="rect">
            <a:avLst/>
          </a:prstGeom>
          <a:solidFill>
            <a:srgbClr val="1A2235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3611880"/>
            <a:ext cx="420624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18888" y="374904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1888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0F1A"/>
                </a:solidFill>
              </a:rPr>
              <a:t>🕵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367528" y="37216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CLIENTE ENC. (15%)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18888" y="40690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Atender con excelencia. El cliente encubierto puede visitar en cualquier momento.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Mejor Tienda Dismac</dc:title>
  <dc:subject>PptxGenJS Presentation</dc:subject>
  <dc:creator>PptxGenJS</dc:creator>
  <cp:lastModifiedBy>PptxGenJS</cp:lastModifiedBy>
  <cp:revision>1</cp:revision>
  <dcterms:created xsi:type="dcterms:W3CDTF">2026-03-04T04:05:57Z</dcterms:created>
  <dcterms:modified xsi:type="dcterms:W3CDTF">2026-03-04T04:05:57Z</dcterms:modified>
</cp:coreProperties>
</file>