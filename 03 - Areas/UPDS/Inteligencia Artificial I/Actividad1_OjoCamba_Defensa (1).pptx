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6"/>
    <p:sldId id="263" r:id="rId9"/>
    <p:sldId id="259" r:id="rId5"/>
    <p:sldId id="261" r:id="rId7"/>
    <p:sldId id="262" r:id="rId8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4864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005840"/>
            <a:ext cx="274320" cy="2743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" name="Shape 2"/>
          <p:cNvSpPr/>
          <p:nvPr/>
        </p:nvSpPr>
        <p:spPr>
          <a:xfrm>
            <a:off x="11521440" y="365760"/>
            <a:ext cx="201168" cy="201168"/>
          </a:xfrm>
          <a:prstGeom prst="ellipse">
            <a:avLst/>
          </a:prstGeom>
          <a:solidFill>
            <a:srgbClr val="E8A93A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1417320"/>
            <a:ext cx="228600" cy="2286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0" y="1554480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I  ·  SIS-0341  ·  UPDS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Espacio de Estados y Búsqueda Inteligente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Ojo Camba — la ruta del técnico: BFS y DFS comparados sobre un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estados real de gestión urbana ciudadana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548640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617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Gerson Alvarado Alvarado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Jhoel Alvaro Cruz Zurita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Yery Eguez Cortez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Adriana Rodríguez Sotelo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Douglas Flor Hernández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49377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Requena Llorentty Jimmy Nataniel
</a:t>
            </a:r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Cruz de la Sierra, Bolivia — julio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real: rutas de técnico sin optimizar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 Camba — plataforma ciudadana de reporte de incidencias urbanas en Santa Cruz de la Sierra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28016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28600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 Office aprueba un lote de reportes (baches, luminarias, canales, emergencias). Un técnico decide manualmente en qué orden visitarlos.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E8A93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28016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costo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5204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considera la distancia real ni la gravedad (Emergencia &gt; Alta &gt; Media &gt; Baja) de cada reporte.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28016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riesgo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7548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Emergencias pueden quedar relegadas si el técnico visita primero lo más cercano.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8064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del equipo: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consultores de IA que formalizan este ruteo como un espacio de estados y comparan algoritmos de búsqueda simbólica para recomendar el orden óptimo.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importa? Vínculo con los ODS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ODS 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Industria, Innovación e Infraestructura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simbólica aplicada a optimizar la operación de una infraestructura real de gestión urbana ciudadana.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29400" y="17830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E8A93A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7830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ODS 11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4231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Ciudades y Comunidades Sostenibles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31089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metros recorridos = menos combustible, menor tiempo de respuesta ante emergencias y menos congestión vehicular.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la actividad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89204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el caso como espacio de estados: estado inicial, meta, operadores, función de costo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Caracterizar el entorno del problema (observabilidad, determinismo, dinamismo…)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y comparar BFS y DFS (Backtracking, planificado como trabajo futuro)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Fundamentar con criterio propio el algoritmo más adecuado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Dartmouth a Shakey: raíces históricas del caso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3000" y="2423160"/>
            <a:ext cx="8851392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920240"/>
            <a:ext cx="1005840" cy="10058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86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Dartmouth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74320" y="342900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McCarthy acuña "inteligencia artificial"; nace la hipótesis simbólica.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52928" y="1920240"/>
            <a:ext cx="1005840" cy="10058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2852928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860" dirty="0"/>
          </a:p>
        </p:txBody>
      </p:sp>
      <p:sp>
        <p:nvSpPr>
          <p:cNvPr id="11" name="Text 9"/>
          <p:cNvSpPr/>
          <p:nvPr/>
        </p:nvSpPr>
        <p:spPr>
          <a:xfrm>
            <a:off x="2852928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87168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Theorist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487168" y="342900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Newell y Simon: primer programa que resuelve un problema mediante búsqueda paso a paso.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65776" y="1920240"/>
            <a:ext cx="1005840" cy="10058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5065776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860" dirty="0"/>
          </a:p>
        </p:txBody>
      </p:sp>
      <p:sp>
        <p:nvSpPr>
          <p:cNvPr id="16" name="Text 14"/>
          <p:cNvSpPr/>
          <p:nvPr/>
        </p:nvSpPr>
        <p:spPr>
          <a:xfrm>
            <a:off x="5065776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1957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00016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00016" y="342900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 la búsqueda a cualquier problema con estado inicial, meta y operadores — antecesor directo del Paso 3.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78624" y="1920240"/>
            <a:ext cx="1005840" cy="10058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7278624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860" dirty="0"/>
          </a:p>
        </p:txBody>
      </p:sp>
      <p:sp>
        <p:nvSpPr>
          <p:cNvPr id="21" name="Text 19"/>
          <p:cNvSpPr/>
          <p:nvPr/>
        </p:nvSpPr>
        <p:spPr>
          <a:xfrm>
            <a:off x="7278624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1966-72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12864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Shakey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12864" y="342900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robot en planificar (STRIPS) y navegar por búsqueda entre puntos conocidos.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491472" y="1920240"/>
            <a:ext cx="1005840" cy="1005840"/>
          </a:xfrm>
          <a:prstGeom prst="ellipse">
            <a:avLst/>
          </a:prstGeom>
          <a:solidFill>
            <a:srgbClr val="E8A93A"/>
          </a:solidFill>
          <a:ln/>
        </p:spPr>
      </p:sp>
      <p:sp>
        <p:nvSpPr>
          <p:cNvPr id="25" name="Text 23"/>
          <p:cNvSpPr/>
          <p:nvPr/>
        </p:nvSpPr>
        <p:spPr>
          <a:xfrm>
            <a:off x="9491472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860" dirty="0"/>
          </a:p>
        </p:txBody>
      </p:sp>
      <p:sp>
        <p:nvSpPr>
          <p:cNvPr id="26" name="Text 24"/>
          <p:cNvSpPr/>
          <p:nvPr/>
        </p:nvSpPr>
        <p:spPr>
          <a:xfrm>
            <a:off x="9491472" y="1920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25712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 A*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125712" y="342900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real + heurística; evolución natural, referenciada como trabajo futuro.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7607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9EEF5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760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Ojo Camba hereda directamente de Logic Theorist, GPS y Shakey: conocimiento completo, explícito y determinista → el terreno donde la búsqueda simbólica es la herramienta correcta.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búsqueda simbólica y no IA estadística?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09928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099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20" dirty="0"/>
          </a:p>
        </p:txBody>
      </p:sp>
      <p:sp>
        <p:nvSpPr>
          <p:cNvPr id="6" name="Text 4"/>
          <p:cNvSpPr/>
          <p:nvPr/>
        </p:nvSpPr>
        <p:spPr>
          <a:xfrm>
            <a:off x="1691640" y="1527048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Conocimiento completo y explícito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0" y="1527048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Nodos, aristas y gravedad ya están dados por la tabla reportes — no hay que inferirlos de datos.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127248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272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1691640" y="2944368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Reglas, no parámetros ajustados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0" y="2944368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y DFS manipulan directamente el grafo con reglas exactas; no hay entrenamiento ni función de pérdida.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544568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544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1691640" y="4361688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Determinista y verificable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0" y="4361688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lote produce siempre el mismo resultado; el costo óptimo puede demostrarse formalmente.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715000"/>
            <a:ext cx="11064240" cy="6858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síntesis: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encaja en "agentes basados en búsqueda sobre un espacio de estados" (Russell y Norvig) — no porque la IA estadística sea inferior, sino porque no es la herramienta adecuada para este tipo de conocimiento.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3 · Formalización del espacio de estados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26464"/>
            <a:ext cx="82296" cy="65836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716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11880" y="13716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(posición actual, conjunto de reportes visitados) — no solo un lugar, también lo ya completado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03704"/>
            <a:ext cx="82296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inicial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11880" y="21488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= (Base, ∅) — técnico en su punto de salida, nada visitado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80944"/>
            <a:ext cx="82296" cy="658368"/>
          </a:xfrm>
          <a:prstGeom prst="rect">
            <a:avLst/>
          </a:prstGeom>
          <a:solidFill>
            <a:srgbClr val="E8A93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260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meta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11880" y="29260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= (cualquier posición, Reportes) — todos los reportes del lote fueron visitados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58184"/>
            <a:ext cx="82296" cy="65836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033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11880" y="37033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Visitar(reporte_k): mueve al técnico a un reporte no visitado y lo agrega al conjunto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82296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4805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Función de costo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11880" y="448056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g(camino) = Σ distancia(tramo_i) en metros — aditiva y positiva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312664"/>
            <a:ext cx="82296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2578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Restricción de dominio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11880" y="52578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visita un reporte si existe uno de mayor gravedad aún pendiente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espacio de estados en acción: dato real del visualizador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de 3 reportes exportado el 10/07/2026 desde la herramienta interactiva construida para la defensa — verificado de forma independiente en Python</a:t>
            </a:r>
            <a:endParaRPr lang="en-US" sz="1250" dirty="0"/>
          </a:p>
        </p:txBody>
      </p:sp>
      <p:pic>
        <p:nvPicPr>
          <p:cNvPr id="4" name="Image 0" descr="img/real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5257800" cy="4892040"/>
          </a:xfrm>
          <a:prstGeom prst="rect">
            <a:avLst/>
          </a:prstGeom>
        </p:spPr>
      </p:pic>
      <p:pic>
        <p:nvPicPr>
          <p:cNvPr id="5" name="Image 1" descr="img/real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17320"/>
            <a:ext cx="5394960" cy="48920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603504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/>
        </p:spPr>
      </p:sp>
      <p:sp>
        <p:nvSpPr>
          <p:cNvPr id="7" name="Text 3"/>
          <p:cNvSpPr/>
          <p:nvPr/>
        </p:nvSpPr>
        <p:spPr>
          <a:xfrm>
            <a:off x="502920" y="603504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BFS: BASE → R103 → R102 → R101 = 1 820 m (16 estados) — coincide con optimoReal del JSON  ·  DFS sobre el mismo grafo: 2 340 m en solo 3 estados, no óptimo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Caracterización del entorno del problema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Totalmente observable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conoce posición, gravedad y distancia de cada reporte antes de buscar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64592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645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21945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25146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Visitar(reporte_k) siempre produce el mismo estado resultante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4592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645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Estático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21945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Dinamismo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75320" y="25146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lote no cambia mientras el algoritmo busca la solución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02336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0233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Secuencial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5720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Episodicidad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8920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visita condiciona qué operadores siguen disponibles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379476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402336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25" name="Text 23"/>
          <p:cNvSpPr/>
          <p:nvPr/>
        </p:nvSpPr>
        <p:spPr>
          <a:xfrm>
            <a:off x="4526280" y="40233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26280" y="45720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espacio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26280" y="48920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y operadores finitos y enumerables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379476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402336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30" name="Text 28"/>
          <p:cNvSpPr/>
          <p:nvPr/>
        </p:nvSpPr>
        <p:spPr>
          <a:xfrm>
            <a:off x="8275320" y="40233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único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75320" y="45720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75320" y="48920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técnico; extender a n técnicos = Vehicle Routing Problem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4 · Implementación en JavaScript (navegador)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463040" y="1417320"/>
            <a:ext cx="44805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63040" y="1417320"/>
            <a:ext cx="4480560" cy="777240"/>
          </a:xfrm>
          <a:prstGeom prst="roundRect">
            <a:avLst>
              <a:gd name="adj" fmla="val 11765"/>
            </a:avLst>
          </a:prstGeom>
          <a:solidFill>
            <a:srgbClr val="0E7C86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1874520"/>
            <a:ext cx="4480560" cy="320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1463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91640" y="1874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anchura — garantiza el óptimo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719072" y="2423160"/>
            <a:ext cx="3977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nivel por nivel con una cola FIFO. Como todas las rutas completas están a la misma profundidad, expande casi todo el árbol antes de hallar la primera — pero por eso garantiza el costo mínimo.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44805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417320"/>
            <a:ext cx="4480560" cy="777240"/>
          </a:xfrm>
          <a:prstGeom prst="roundRect">
            <a:avLst>
              <a:gd name="adj" fmla="val 11765"/>
            </a:avLst>
          </a:prstGeom>
          <a:solidFill>
            <a:srgbClr val="E67E22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1874520"/>
            <a:ext cx="4480560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463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00800" y="1874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 — rápido, sin garantía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28232" y="2423160"/>
            <a:ext cx="3977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Apila el primer vecino no visitado y profundiza hasta agotar la rama. Se detiene en la PRIMERA ruta completa que encuentra: muy rápido, pero puede quedarse con una ruta cara.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Visualizador interactivo (HTML/JS/CSS), sin backend ni instalación — corre en cualquier navegador. Ambos algoritmos ejecutados y verificados en vivo, con contador de estados explorados y comparación contra el óptimo de fuerza bruta.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651760" y="5806440"/>
            <a:ext cx="6858000" cy="548640"/>
          </a:xfrm>
          <a:prstGeom prst="roundRect">
            <a:avLst>
              <a:gd name="adj" fmla="val 13333"/>
            </a:avLst>
          </a:prstGeom>
          <a:solidFill>
            <a:srgbClr val="E9EEF5"/>
          </a:solidFill>
          <a:ln/>
        </p:spPr>
      </p:sp>
      <p:sp>
        <p:nvSpPr>
          <p:cNvPr id="17" name="Text 15"/>
          <p:cNvSpPr/>
          <p:nvPr/>
        </p:nvSpPr>
        <p:spPr>
          <a:xfrm>
            <a:off x="2651760" y="5806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(poda por costo + prioridad de gravedad): planificado como siguiente paso del proyecto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5 · Análisis comparativo (resultados reales)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— lote real de 3 reportes (JSON del visualizador)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234440"/>
                <a:gridCol w="118872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Estados expl.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¿Óptimo?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1 820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2 340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— 5 reportes, orden de exploración adverso</a:t>
            </a:r>
            <a:endParaRPr lang="en-US" sz="13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53949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234440"/>
                <a:gridCol w="118872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Estados expl.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¿Óptimo?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5 650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263640" y="1234440"/>
            <a:ext cx="5349240" cy="4892040"/>
          </a:xfrm>
          <a:prstGeom prst="roundRect">
            <a:avLst>
              <a:gd name="adj" fmla="val 1869"/>
            </a:avLst>
          </a:prstGeom>
          <a:solidFill>
            <a:srgbClr val="1B2A4A"/>
          </a:solidFill>
          <a:ln/>
        </p:spPr>
      </p:sp>
      <p:sp>
        <p:nvSpPr>
          <p:cNvPr id="8" name="Text 4"/>
          <p:cNvSpPr/>
          <p:nvPr/>
        </p:nvSpPr>
        <p:spPr>
          <a:xfrm>
            <a:off x="653796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de los resultados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537960" y="192024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es mucho más rápido (3 y 5 estados) pero se detiene en la primera ruta completa: erró por 28.6% y 32.9% frente al óptimo real.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coincide siempre con la fuerza bruta — es exhaustivo por diseño —, pero paga ese resultado explorando 5 a 65 veces más estados que DFS.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de DFS depende del orden en que se listan los reportes pendientes, no de ningún criterio de costo: al invertir el orden en el Caso 2, cambió por completo su ruta.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de los dos aplica todavía la prioridad por gravedad formalizada en la Tabla 1 — eso se resuelve con Backtracking (trabajo futuro).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costo de garantizar el óptimo y recomendación final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28.6%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834640" y="146304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DFS frente al óptimo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Caso 1 (2 340 m vs. 1 820 m)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46304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65×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595360" y="146304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estados que explora BFS frente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DFS en el Caso 2 (326 vs. 5)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de los dos, tal como está implementado, aplica la prioridad por gravedad: cerrar esa brecha sin perder la garantía de BFS es el trabajo de Backtracking (siguiente paso del proyecto).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690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 para esta entrega: BFS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el costo mínimo de forma verificable — no depende del orden arbitrario de los datos, a diferencia de DFS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real de un lote es pequeño (decenas, no miles): el costo extra de exploración sigue siendo del orden de milisegundos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con poda combinada (costo + prioridad) queda planteado como siguiente paso para aplicar la regla de negocio sin perder esta garantía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 ética de IA y conclusiones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24365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de auditoría destacado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8463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visualizador generado con IA resolvía "llegar a un reporte", no "visitar todos" — cambiaba el problema de fondo.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rechazó y se exigió rehacer con estado = (posición, visitados).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hallazgo: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sugirió la API de pago de Google Maps → se descartó y se usó OpenStreetMap/estimación propia documentada.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87452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se formaliza como espacio de estados discreto, determinista, estático y totalmente observable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garantiza el óptimo por búsqueda exhaustiva, a costa de explorar 5 a 65 veces más estados que DFS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es rápido pero sin ninguna garantía: su resultado depende del orden arbitrario de los datos, no del costo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prioridad por gravedad está formalizada pero no implementada aún; se resuelve con Backtracking (trabajo futuro)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defensa oral a cargo del equipo, cada integrante según su rol asignado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2026-07-10T23:14:25Z</dcterms:created>
  <dcterms:modified xsi:type="dcterms:W3CDTF">2026-07-10T23:14:25Z</dcterms:modified>
</cp:coreProperties>
</file>