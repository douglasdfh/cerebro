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89" r:id="rId2"/>
    <p:sldId id="292" r:id="rId3"/>
    <p:sldId id="286" r:id="rId4"/>
    <p:sldId id="291" r:id="rId5"/>
    <p:sldId id="373" r:id="rId6"/>
    <p:sldId id="396" r:id="rId7"/>
    <p:sldId id="389" r:id="rId8"/>
    <p:sldId id="397" r:id="rId9"/>
    <p:sldId id="390" r:id="rId10"/>
    <p:sldId id="398" r:id="rId11"/>
    <p:sldId id="392" r:id="rId12"/>
    <p:sldId id="395" r:id="rId13"/>
    <p:sldId id="394" r:id="rId14"/>
    <p:sldId id="393" r:id="rId15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B79B7E24-A6EB-4AC6-B2C0-6CC4CF803F7D}">
          <p14:sldIdLst>
            <p14:sldId id="289"/>
            <p14:sldId id="292"/>
            <p14:sldId id="286"/>
            <p14:sldId id="291"/>
          </p14:sldIdLst>
        </p14:section>
        <p14:section name="Sección sin título" id="{93C365F2-AFF3-46FD-8499-D67B0A2E1264}">
          <p14:sldIdLst>
            <p14:sldId id="373"/>
            <p14:sldId id="396"/>
            <p14:sldId id="389"/>
            <p14:sldId id="397"/>
            <p14:sldId id="390"/>
            <p14:sldId id="398"/>
            <p14:sldId id="392"/>
            <p14:sldId id="395"/>
            <p14:sldId id="394"/>
            <p14:sldId id="3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79"/>
    <p:restoredTop sz="96327"/>
  </p:normalViewPr>
  <p:slideViewPr>
    <p:cSldViewPr snapToGrid="0">
      <p:cViewPr>
        <p:scale>
          <a:sx n="90" d="100"/>
          <a:sy n="90" d="100"/>
        </p:scale>
        <p:origin x="1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4921ED-7E68-7144-9EF7-7DF71E000727}" type="datetimeFigureOut">
              <a:rPr lang="es-BO" smtClean="0"/>
              <a:t>21/10/2023</a:t>
            </a:fld>
            <a:endParaRPr lang="es-B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B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B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D9BC07-7A56-5945-A22E-CB3020CA270C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63534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0650ABA-01CE-D68B-6F33-1A5FABA426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E60E52-E967-614E-82D0-67C851FA34AD}" type="slidenum">
              <a:rPr lang="en-US" altLang="es-BO"/>
              <a:pPr/>
              <a:t>2</a:t>
            </a:fld>
            <a:endParaRPr lang="en-US" altLang="es-BO"/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FDB7FF74-B370-5DB8-FACA-77DC7CFD18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AC7A5B47-790A-40C0-9F78-EA3B2D3C3B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altLang="es-BO"/>
              <a:t>6 bits</a:t>
            </a:r>
          </a:p>
          <a:p>
            <a:r>
              <a:rPr lang="es-MX" altLang="es-BO"/>
              <a:t>2555.2555.252.0</a:t>
            </a:r>
          </a:p>
          <a:p>
            <a:endParaRPr lang="es-MX" altLang="es-BO"/>
          </a:p>
          <a:p>
            <a:r>
              <a:rPr lang="es-MX" altLang="es-BO"/>
              <a:t>137.100.0.0</a:t>
            </a:r>
          </a:p>
          <a:p>
            <a:r>
              <a:rPr lang="es-MX" altLang="es-BO"/>
              <a:t>137.100.3.2555</a:t>
            </a:r>
          </a:p>
          <a:p>
            <a:endParaRPr lang="es-MX" altLang="es-BO"/>
          </a:p>
          <a:p>
            <a:r>
              <a:rPr lang="es-MX" altLang="es-BO"/>
              <a:t>137.100.4.0</a:t>
            </a:r>
          </a:p>
          <a:p>
            <a:r>
              <a:rPr lang="es-MX" altLang="es-BO"/>
              <a:t>137.100.7.255</a:t>
            </a:r>
          </a:p>
          <a:p>
            <a:endParaRPr lang="es-MX" altLang="es-BO"/>
          </a:p>
          <a:p>
            <a:r>
              <a:rPr lang="es-MX" altLang="es-BO"/>
              <a:t>137.100.8.0</a:t>
            </a:r>
          </a:p>
          <a:p>
            <a:r>
              <a:rPr lang="es-MX" altLang="es-BO"/>
              <a:t>137.100.11.255</a:t>
            </a:r>
          </a:p>
          <a:p>
            <a:endParaRPr lang="es-MX" altLang="es-BO"/>
          </a:p>
          <a:p>
            <a:r>
              <a:rPr lang="es-MX" altLang="es-BO"/>
              <a:t>137.100.12.0</a:t>
            </a:r>
          </a:p>
          <a:p>
            <a:r>
              <a:rPr lang="es-MX" altLang="es-BO"/>
              <a:t>137.100.15.255</a:t>
            </a:r>
          </a:p>
          <a:p>
            <a:r>
              <a:rPr lang="es-MX" altLang="es-BO"/>
              <a:t>...</a:t>
            </a:r>
          </a:p>
          <a:p>
            <a:r>
              <a:rPr lang="es-MX" altLang="es-BO"/>
              <a:t>137.100.252.0</a:t>
            </a:r>
          </a:p>
          <a:p>
            <a:r>
              <a:rPr lang="es-MX" altLang="es-BO"/>
              <a:t>137.100.255.255</a:t>
            </a:r>
          </a:p>
          <a:p>
            <a:endParaRPr lang="es-MX" altLang="es-B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A16B04-E79D-1296-4101-219C4F1A24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8FB3C0-D313-244B-DAE3-483143144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2E4C54-EA47-6736-D44D-F9D2A205E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0DCCB-176D-9849-BC07-B26834F9BB37}" type="datetimeFigureOut">
              <a:rPr lang="es-BO" smtClean="0"/>
              <a:t>21/10/2023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599E64-32F9-4F36-AC53-DA57F593F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9F17E2-C79A-B7F5-0DFD-B57F3FB39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4A2D5-69F8-5442-ABE0-2CA346A866ED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656766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1302F-E438-7E0D-A26D-D5289DEC3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E18B1A-AE77-635D-E083-F538D6593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546FD4-09A2-95AC-207C-8DFA8DCA2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0DCCB-176D-9849-BC07-B26834F9BB37}" type="datetimeFigureOut">
              <a:rPr lang="es-BO" smtClean="0"/>
              <a:t>21/10/2023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A78BDD-47AF-322A-D02C-02F44EF5B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7B43DA-B32F-E917-7282-0D0C6F2AF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4A2D5-69F8-5442-ABE0-2CA346A866ED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668797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2E844F-F03B-4226-B0D8-67247CFEC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B4E399-759D-3573-0C16-B70E80F85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A59B18-3A98-B707-7E4F-F9D116EC7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0DCCB-176D-9849-BC07-B26834F9BB37}" type="datetimeFigureOut">
              <a:rPr lang="es-BO" smtClean="0"/>
              <a:t>21/10/2023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1564D3-6336-C8D2-BA4B-BD957DBFC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08F410-53BB-AA01-1919-11D224F48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4A2D5-69F8-5442-ABE0-2CA346A866ED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02448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A89065-FD10-46D9-0066-9BFC9DA9C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65C479-6090-172D-C955-CC1F8F4620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B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3432449-873F-2A20-CC4B-5DAE080A9D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B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4F66520-FB3B-43ED-6B02-71FF89DC9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0DCCB-176D-9849-BC07-B26834F9BB37}" type="datetimeFigureOut">
              <a:rPr lang="es-BO" smtClean="0"/>
              <a:t>21/10/2023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B34E34-0338-AB77-CAFB-674D7B539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491B976-A478-C0FD-8072-7C439895D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4A2D5-69F8-5442-ABE0-2CA346A866ED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562550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25E01-79B3-656C-1F24-6E6693302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1369A9-62F6-F342-54A9-4216F6155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FBD0480-53CE-B105-BEE9-BAAEBC31F1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B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FEC69C0-26A5-D0D2-B42A-2131677B8A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F5D8746-B9B7-07FB-E424-161E93334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B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7FA8BCE-E7CE-257F-5C02-B290CF40F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0DCCB-176D-9849-BC07-B26834F9BB37}" type="datetimeFigureOut">
              <a:rPr lang="es-BO" smtClean="0"/>
              <a:t>21/10/2023</a:t>
            </a:fld>
            <a:endParaRPr lang="es-B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A225F99-E2D8-7BD7-CD2D-18F159BF6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121FA95-FF1E-927C-939A-6A4517E09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4A2D5-69F8-5442-ABE0-2CA346A866ED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756567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142E08-8C86-CCFD-3075-9F375D751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67B3618-F821-5FB4-920D-B2C40B914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0DCCB-176D-9849-BC07-B26834F9BB37}" type="datetimeFigureOut">
              <a:rPr lang="es-BO" smtClean="0"/>
              <a:t>21/10/2023</a:t>
            </a:fld>
            <a:endParaRPr lang="es-B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33223A5-BA5B-7A05-68B5-572E3F09E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CDA93D-5971-944A-81BD-C26AF7E8E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4A2D5-69F8-5442-ABE0-2CA346A866ED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939577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968F31F-5544-330E-A14D-EE23326CC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0DCCB-176D-9849-BC07-B26834F9BB37}" type="datetimeFigureOut">
              <a:rPr lang="es-BO" smtClean="0"/>
              <a:t>21/10/2023</a:t>
            </a:fld>
            <a:endParaRPr lang="es-B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5897C86-8112-7D39-0F1E-3AA2E06C5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FE4BF1-CBE8-9E72-7715-1191E882A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4A2D5-69F8-5442-ABE0-2CA346A866ED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134790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B3F45C-EFD2-0B3D-009E-CBB7DB417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AE9DC9-86C6-37FC-B2E9-A809C55B8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E97A26D-45C5-6A2D-5BCC-CEBA293EEA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1511A99-0426-D360-91C9-2874B546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0DCCB-176D-9849-BC07-B26834F9BB37}" type="datetimeFigureOut">
              <a:rPr lang="es-BO" smtClean="0"/>
              <a:t>21/10/2023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1377F99-1223-C805-467C-865E79620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475176-B246-F246-46DE-E9FF4E44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4A2D5-69F8-5442-ABE0-2CA346A866ED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201836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37AE57-411F-8F78-61B2-528BE1E01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D43F810-34BB-6D09-B8AD-4F8AE971A7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B4C9633-4C5B-8D61-811C-246FE6BA2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414C67-10A2-786E-E89B-942989975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0DCCB-176D-9849-BC07-B26834F9BB37}" type="datetimeFigureOut">
              <a:rPr lang="es-BO" smtClean="0"/>
              <a:t>21/10/2023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D28EEC-A5FD-4EEB-833F-E877FD8D1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DC6FB3-4B63-35B8-0C33-EBAD55221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4A2D5-69F8-5442-ABE0-2CA346A866ED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663387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40C76F-88EB-2293-356A-70DA230DD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9D9D901-D666-5199-D0DF-602E79DD0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104ED5-7E60-B1A7-FAFA-16C5B3653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0DCCB-176D-9849-BC07-B26834F9BB37}" type="datetimeFigureOut">
              <a:rPr lang="es-BO" smtClean="0"/>
              <a:t>21/10/2023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994406-9836-5E5F-30EB-88B3D978D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97D24A-660D-D206-F8A6-B216B729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4A2D5-69F8-5442-ABE0-2CA346A866ED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530114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09FFB32-F1FE-9346-5378-345157F26C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0B9C182-A350-0018-E02E-0EAC38EF8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571D41-4226-4AF0-81D6-7EEF83F82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0DCCB-176D-9849-BC07-B26834F9BB37}" type="datetimeFigureOut">
              <a:rPr lang="es-BO" smtClean="0"/>
              <a:t>21/10/2023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BBA069-F035-06F1-5DAB-E9242F111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8D6503-E34D-FA55-49C2-A120583C9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4A2D5-69F8-5442-ABE0-2CA346A866ED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169083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56F0F039-172D-E610-C220-982D872E1BBB}"/>
              </a:ext>
            </a:extLst>
          </p:cNvPr>
          <p:cNvSpPr txBox="1">
            <a:spLocks/>
          </p:cNvSpPr>
          <p:nvPr userDrawn="1"/>
        </p:nvSpPr>
        <p:spPr>
          <a:xfrm>
            <a:off x="0" y="642939"/>
            <a:ext cx="12192000" cy="642937"/>
          </a:xfrm>
          <a:prstGeom prst="rect">
            <a:avLst/>
          </a:prstGeom>
        </p:spPr>
        <p:txBody>
          <a:bodyPr/>
          <a:lstStyle>
            <a:lvl1pPr>
              <a:defRPr sz="2800" i="0">
                <a:latin typeface="Arial" pitchFamily="34" charset="0"/>
                <a:cs typeface="Arial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endParaRPr lang="es-PE" sz="2800" b="1" dirty="0">
              <a:solidFill>
                <a:srgbClr val="000099"/>
              </a:solidFill>
              <a:ea typeface="+mj-ea"/>
            </a:endParaRP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95208" y="714364"/>
            <a:ext cx="12096792" cy="64293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rgbClr val="000099"/>
                </a:solidFill>
                <a:latin typeface="Arial Black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6" name="3 Marcador de contenido"/>
          <p:cNvSpPr>
            <a:spLocks noGrp="1"/>
          </p:cNvSpPr>
          <p:nvPr>
            <p:ph sz="half" idx="2"/>
          </p:nvPr>
        </p:nvSpPr>
        <p:spPr>
          <a:xfrm>
            <a:off x="190459" y="1357298"/>
            <a:ext cx="11811083" cy="4768865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2"/>
              </a:buBlip>
              <a:defRPr sz="2400"/>
            </a:lvl1pPr>
            <a:lvl2pPr>
              <a:buFontTx/>
              <a:buBlip>
                <a:blip r:embed="rId2"/>
              </a:buBlip>
              <a:defRPr sz="2000"/>
            </a:lvl2pPr>
            <a:lvl3pPr>
              <a:buFontTx/>
              <a:buBlip>
                <a:blip r:embed="rId2"/>
              </a:buBlip>
              <a:defRPr sz="1800"/>
            </a:lvl3pPr>
            <a:lvl4pPr>
              <a:buFontTx/>
              <a:buBlip>
                <a:blip r:embed="rId2"/>
              </a:buBlip>
              <a:defRPr sz="1600"/>
            </a:lvl4pPr>
            <a:lvl5pPr>
              <a:buFontTx/>
              <a:buBlip>
                <a:blip r:embed="rId2"/>
              </a:buBlip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30161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E6E0890-98AB-40C1-D892-2A1BFA573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FE5CC2-270B-9386-3AF4-4E22CF4D1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FC83CE-8E96-DD8A-D4CF-6315AC2E97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0DCCB-176D-9849-BC07-B26834F9BB37}" type="datetimeFigureOut">
              <a:rPr lang="es-BO" smtClean="0"/>
              <a:t>21/10/2023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0FE654-6B2C-2B7A-03FB-3D5AB052B7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D17F85-A24E-32A1-E4CC-0EB87BB43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4A2D5-69F8-5442-ABE0-2CA346A866ED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62866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3">
            <a:extLst>
              <a:ext uri="{FF2B5EF4-FFF2-40B4-BE49-F238E27FC236}">
                <a16:creationId xmlns:a16="http://schemas.microsoft.com/office/drawing/2014/main" id="{7A7B3478-8C2C-0130-84D2-E6E220A2A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EA946-A167-BC42-B647-DBD6EA5EF6A9}" type="datetime3">
              <a:rPr lang="en-US" altLang="es-BO"/>
              <a:pPr/>
              <a:t>21 October 2023</a:t>
            </a:fld>
            <a:endParaRPr lang="en-US" altLang="es-BO"/>
          </a:p>
        </p:txBody>
      </p:sp>
      <p:sp>
        <p:nvSpPr>
          <p:cNvPr id="134146" name="Rectangle 2">
            <a:extLst>
              <a:ext uri="{FF2B5EF4-FFF2-40B4-BE49-F238E27FC236}">
                <a16:creationId xmlns:a16="http://schemas.microsoft.com/office/drawing/2014/main" id="{79C56B18-7B59-584F-43E3-B3AB01AE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s-BO" sz="4000"/>
              <a:t>Ejercicios: </a:t>
            </a:r>
            <a:br>
              <a:rPr lang="en-US" altLang="es-BO" sz="4000"/>
            </a:br>
            <a:r>
              <a:rPr lang="en-US" altLang="es-BO" sz="4000"/>
              <a:t>Práctica de potencias de 2</a:t>
            </a:r>
          </a:p>
        </p:txBody>
      </p:sp>
      <p:graphicFrame>
        <p:nvGraphicFramePr>
          <p:cNvPr id="134231" name="Group 87">
            <a:extLst>
              <a:ext uri="{FF2B5EF4-FFF2-40B4-BE49-F238E27FC236}">
                <a16:creationId xmlns:a16="http://schemas.microsoft.com/office/drawing/2014/main" id="{AB8FD660-CBAD-F7B0-6A65-D3EBCF3562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693329"/>
              </p:ext>
            </p:extLst>
          </p:nvPr>
        </p:nvGraphicFramePr>
        <p:xfrm>
          <a:off x="2336800" y="1981200"/>
          <a:ext cx="6695440" cy="3596640"/>
        </p:xfrm>
        <a:graphic>
          <a:graphicData uri="http://schemas.openxmlformats.org/drawingml/2006/table">
            <a:tbl>
              <a:tblPr/>
              <a:tblGrid>
                <a:gridCol w="1079713">
                  <a:extLst>
                    <a:ext uri="{9D8B030D-6E8A-4147-A177-3AD203B41FA5}">
                      <a16:colId xmlns:a16="http://schemas.microsoft.com/office/drawing/2014/main" val="1555033651"/>
                    </a:ext>
                  </a:extLst>
                </a:gridCol>
                <a:gridCol w="616979">
                  <a:extLst>
                    <a:ext uri="{9D8B030D-6E8A-4147-A177-3AD203B41FA5}">
                      <a16:colId xmlns:a16="http://schemas.microsoft.com/office/drawing/2014/main" val="2044689386"/>
                    </a:ext>
                  </a:extLst>
                </a:gridCol>
                <a:gridCol w="499266">
                  <a:extLst>
                    <a:ext uri="{9D8B030D-6E8A-4147-A177-3AD203B41FA5}">
                      <a16:colId xmlns:a16="http://schemas.microsoft.com/office/drawing/2014/main" val="2271630644"/>
                    </a:ext>
                  </a:extLst>
                </a:gridCol>
                <a:gridCol w="497237">
                  <a:extLst>
                    <a:ext uri="{9D8B030D-6E8A-4147-A177-3AD203B41FA5}">
                      <a16:colId xmlns:a16="http://schemas.microsoft.com/office/drawing/2014/main" val="1954359739"/>
                    </a:ext>
                  </a:extLst>
                </a:gridCol>
                <a:gridCol w="499266">
                  <a:extLst>
                    <a:ext uri="{9D8B030D-6E8A-4147-A177-3AD203B41FA5}">
                      <a16:colId xmlns:a16="http://schemas.microsoft.com/office/drawing/2014/main" val="1737770481"/>
                    </a:ext>
                  </a:extLst>
                </a:gridCol>
                <a:gridCol w="379523">
                  <a:extLst>
                    <a:ext uri="{9D8B030D-6E8A-4147-A177-3AD203B41FA5}">
                      <a16:colId xmlns:a16="http://schemas.microsoft.com/office/drawing/2014/main" val="1860509245"/>
                    </a:ext>
                  </a:extLst>
                </a:gridCol>
                <a:gridCol w="381553">
                  <a:extLst>
                    <a:ext uri="{9D8B030D-6E8A-4147-A177-3AD203B41FA5}">
                      <a16:colId xmlns:a16="http://schemas.microsoft.com/office/drawing/2014/main" val="148631943"/>
                    </a:ext>
                  </a:extLst>
                </a:gridCol>
                <a:gridCol w="379524">
                  <a:extLst>
                    <a:ext uri="{9D8B030D-6E8A-4147-A177-3AD203B41FA5}">
                      <a16:colId xmlns:a16="http://schemas.microsoft.com/office/drawing/2014/main" val="2723493976"/>
                    </a:ext>
                  </a:extLst>
                </a:gridCol>
                <a:gridCol w="381553">
                  <a:extLst>
                    <a:ext uri="{9D8B030D-6E8A-4147-A177-3AD203B41FA5}">
                      <a16:colId xmlns:a16="http://schemas.microsoft.com/office/drawing/2014/main" val="2466994794"/>
                    </a:ext>
                  </a:extLst>
                </a:gridCol>
                <a:gridCol w="1980826">
                  <a:extLst>
                    <a:ext uri="{9D8B030D-6E8A-4147-A177-3AD203B41FA5}">
                      <a16:colId xmlns:a16="http://schemas.microsoft.com/office/drawing/2014/main" val="724960062"/>
                    </a:ext>
                  </a:extLst>
                </a:gridCol>
              </a:tblGrid>
              <a:tr h="5994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s-B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Binario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s-B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s-B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64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s-B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s-B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s-B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s-B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s-B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s-B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Decimal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724338"/>
                  </a:ext>
                </a:extLst>
              </a:tr>
              <a:tr h="5994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11001100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s-B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s-B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s-B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s-B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s-B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s-B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s-B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128+64+8+4 = 204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9720405"/>
                  </a:ext>
                </a:extLst>
              </a:tr>
              <a:tr h="5994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s-B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10101010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es-BO" altLang="es-BO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128+32+8+2=170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7672131"/>
                  </a:ext>
                </a:extLst>
              </a:tr>
              <a:tr h="5994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s-B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11100011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128+64+32+2+1=227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4227183"/>
                  </a:ext>
                </a:extLst>
              </a:tr>
              <a:tr h="5994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s-B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10110011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128+32+16+2+1=179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439183"/>
                  </a:ext>
                </a:extLst>
              </a:tr>
              <a:tr h="5994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00110101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s-BO" altLang="es-B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32+16+4+1=53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222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1077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6DB900E1-2B67-41DA-A83E-F1865B9CCD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012" y="197225"/>
            <a:ext cx="7856668" cy="177800"/>
          </a:xfrm>
        </p:spPr>
        <p:txBody>
          <a:bodyPr>
            <a:normAutofit fontScale="90000"/>
          </a:bodyPr>
          <a:lstStyle/>
          <a:p>
            <a:r>
              <a:rPr lang="en-US" altLang="es-BO" dirty="0" err="1"/>
              <a:t>Ejercicio</a:t>
            </a:r>
            <a:r>
              <a:rPr lang="en-US" altLang="es-BO" dirty="0"/>
              <a:t>: </a:t>
            </a:r>
            <a:r>
              <a:rPr lang="en-US" altLang="es-BO" dirty="0" err="1"/>
              <a:t>Subredes</a:t>
            </a:r>
            <a:r>
              <a:rPr lang="en-US" altLang="es-BO" dirty="0"/>
              <a:t> </a:t>
            </a:r>
          </a:p>
        </p:txBody>
      </p:sp>
      <p:sp>
        <p:nvSpPr>
          <p:cNvPr id="48132" name="Rectangle 4">
            <a:extLst>
              <a:ext uri="{FF2B5EF4-FFF2-40B4-BE49-F238E27FC236}">
                <a16:creationId xmlns:a16="http://schemas.microsoft.com/office/drawing/2014/main" id="{F9A69DB1-41FC-3221-892D-C09902A756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1341" y="519954"/>
            <a:ext cx="11609294" cy="6140821"/>
          </a:xfrm>
          <a:noFill/>
          <a:ln/>
        </p:spPr>
        <p:txBody>
          <a:bodyPr>
            <a:normAutofit fontScale="70000" lnSpcReduction="20000"/>
          </a:bodyPr>
          <a:lstStyle/>
          <a:p>
            <a:r>
              <a:rPr lang="en-US" altLang="es-BO" sz="1900" b="1" dirty="0"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lang="en-US" altLang="es-BO" sz="1900" b="1" dirty="0" err="1">
                <a:latin typeface="Arial" panose="020B0604020202020204" pitchFamily="34" charset="0"/>
                <a:cs typeface="Arial" panose="020B0604020202020204" pitchFamily="34" charset="0"/>
              </a:rPr>
              <a:t>tiene</a:t>
            </a:r>
            <a:r>
              <a:rPr lang="en-US" altLang="es-BO" sz="1900" b="1" dirty="0">
                <a:latin typeface="Arial" panose="020B0604020202020204" pitchFamily="34" charset="0"/>
                <a:cs typeface="Arial" panose="020B0604020202020204" pitchFamily="34" charset="0"/>
              </a:rPr>
              <a:t> una </a:t>
            </a:r>
            <a:r>
              <a:rPr lang="en-US" altLang="es-BO" sz="1900" b="1" dirty="0" err="1">
                <a:latin typeface="Arial" panose="020B0604020202020204" pitchFamily="34" charset="0"/>
                <a:cs typeface="Arial" panose="020B0604020202020204" pitchFamily="34" charset="0"/>
              </a:rPr>
              <a:t>clase</a:t>
            </a:r>
            <a:r>
              <a:rPr lang="en-US" altLang="es-BO" sz="1900" b="1" dirty="0">
                <a:latin typeface="Arial" panose="020B0604020202020204" pitchFamily="34" charset="0"/>
                <a:cs typeface="Arial" panose="020B0604020202020204" pitchFamily="34" charset="0"/>
              </a:rPr>
              <a:t> B= 137.100.0.0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s-BO" sz="1900" dirty="0">
                <a:latin typeface="Arial" panose="020B0604020202020204" pitchFamily="34" charset="0"/>
                <a:cs typeface="Arial" panose="020B0604020202020204" pitchFamily="34" charset="0"/>
              </a:rPr>
              <a:t>decimal                                                       </a:t>
            </a:r>
            <a:r>
              <a:rPr lang="en-US" altLang="es-BO" sz="1900" dirty="0" err="1">
                <a:latin typeface="Arial" panose="020B0604020202020204" pitchFamily="34" charset="0"/>
                <a:cs typeface="Arial" panose="020B0604020202020204" pitchFamily="34" charset="0"/>
              </a:rPr>
              <a:t>binario</a:t>
            </a:r>
            <a:endParaRPr lang="en-US" altLang="es-BO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s-BO" sz="1900" dirty="0">
                <a:latin typeface="Arial" panose="020B0604020202020204" pitchFamily="34" charset="0"/>
                <a:cs typeface="Arial" panose="020B0604020202020204" pitchFamily="34" charset="0"/>
              </a:rPr>
              <a:t>137.100.0.0              10001001.1100100.00000000.00000000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s-BO" sz="1900" dirty="0">
                <a:latin typeface="Arial" panose="020B0604020202020204" pitchFamily="34" charset="0"/>
                <a:cs typeface="Arial" panose="020B0604020202020204" pitchFamily="34" charset="0"/>
              </a:rPr>
              <a:t>255.255.0.0              11111111.11111111.00000000.00000000          Mascara de red por </a:t>
            </a:r>
            <a:r>
              <a:rPr lang="en-US" altLang="es-BO" sz="1900" dirty="0" err="1">
                <a:latin typeface="Arial" panose="020B0604020202020204" pitchFamily="34" charset="0"/>
                <a:cs typeface="Arial" panose="020B0604020202020204" pitchFamily="34" charset="0"/>
              </a:rPr>
              <a:t>defecto</a:t>
            </a:r>
            <a:r>
              <a:rPr lang="en-US" altLang="es-BO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BO" sz="1900" dirty="0" err="1">
                <a:latin typeface="Arial" panose="020B0604020202020204" pitchFamily="34" charset="0"/>
                <a:cs typeface="Arial" panose="020B0604020202020204" pitchFamily="34" charset="0"/>
              </a:rPr>
              <a:t>clase</a:t>
            </a:r>
            <a:r>
              <a:rPr lang="en-US" altLang="es-BO" sz="1900" dirty="0"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</a:p>
          <a:p>
            <a:r>
              <a:rPr lang="en-US" altLang="es-BO" sz="1900" b="1" dirty="0"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lang="en-US" altLang="es-BO" sz="1900" b="1" dirty="0" err="1">
                <a:latin typeface="Arial" panose="020B0604020202020204" pitchFamily="34" charset="0"/>
                <a:cs typeface="Arial" panose="020B0604020202020204" pitchFamily="34" charset="0"/>
              </a:rPr>
              <a:t>requieren</a:t>
            </a:r>
            <a:r>
              <a:rPr lang="en-US" altLang="es-BO" sz="1900" b="1" dirty="0">
                <a:latin typeface="Arial" panose="020B0604020202020204" pitchFamily="34" charset="0"/>
                <a:cs typeface="Arial" panose="020B0604020202020204" pitchFamily="34" charset="0"/>
              </a:rPr>
              <a:t> 520 hosts por </a:t>
            </a:r>
            <a:r>
              <a:rPr lang="en-US" altLang="es-BO" sz="1900" b="1" dirty="0" err="1">
                <a:latin typeface="Arial" panose="020B0604020202020204" pitchFamily="34" charset="0"/>
                <a:cs typeface="Arial" panose="020B0604020202020204" pitchFamily="34" charset="0"/>
              </a:rPr>
              <a:t>Subred</a:t>
            </a:r>
            <a:endParaRPr lang="en-US" altLang="es-BO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s-BO" sz="1900" dirty="0">
                <a:latin typeface="Arial" panose="020B0604020202020204" pitchFamily="34" charset="0"/>
                <a:cs typeface="Arial" panose="020B0604020202020204" pitchFamily="34" charset="0"/>
              </a:rPr>
              <a:t>   2^10 -2=1022</a:t>
            </a:r>
          </a:p>
          <a:p>
            <a:r>
              <a:rPr lang="en-US" altLang="es-BO" sz="1900" b="1" dirty="0">
                <a:latin typeface="Arial" panose="020B0604020202020204" pitchFamily="34" charset="0"/>
                <a:cs typeface="Arial" panose="020B0604020202020204" pitchFamily="34" charset="0"/>
              </a:rPr>
              <a:t>¿</a:t>
            </a:r>
            <a:r>
              <a:rPr lang="en-US" altLang="es-BO" sz="1900" b="1" dirty="0" err="1">
                <a:latin typeface="Arial" panose="020B0604020202020204" pitchFamily="34" charset="0"/>
                <a:cs typeface="Arial" panose="020B0604020202020204" pitchFamily="34" charset="0"/>
              </a:rPr>
              <a:t>Cuántos</a:t>
            </a:r>
            <a:r>
              <a:rPr lang="en-US" altLang="es-BO" sz="1900" b="1" dirty="0">
                <a:latin typeface="Arial" panose="020B0604020202020204" pitchFamily="34" charset="0"/>
                <a:cs typeface="Arial" panose="020B0604020202020204" pitchFamily="34" charset="0"/>
              </a:rPr>
              <a:t> bits se </a:t>
            </a:r>
            <a:r>
              <a:rPr lang="en-US" altLang="es-BO" sz="1900" b="1" dirty="0" err="1">
                <a:latin typeface="Arial" panose="020B0604020202020204" pitchFamily="34" charset="0"/>
                <a:cs typeface="Arial" panose="020B0604020202020204" pitchFamily="34" charset="0"/>
              </a:rPr>
              <a:t>piden</a:t>
            </a:r>
            <a:r>
              <a:rPr lang="en-US" altLang="es-BO" sz="19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BO" sz="1900" b="1" dirty="0" err="1">
                <a:latin typeface="Arial" panose="020B0604020202020204" pitchFamily="34" charset="0"/>
                <a:cs typeface="Arial" panose="020B0604020202020204" pitchFamily="34" charset="0"/>
              </a:rPr>
              <a:t>prestados</a:t>
            </a:r>
            <a:r>
              <a:rPr lang="en-US" altLang="es-BO" sz="1900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>
              <a:buNone/>
            </a:pPr>
            <a:r>
              <a:rPr lang="es-ES" sz="1900" dirty="0">
                <a:latin typeface="Arial" panose="020B0604020202020204" pitchFamily="34" charset="0"/>
                <a:cs typeface="Arial" panose="020B0604020202020204" pitchFamily="34" charset="0"/>
              </a:rPr>
              <a:t>Se pide 2 bits prestados , dejándonos con 10 bits para los hosts.</a:t>
            </a:r>
          </a:p>
          <a:p>
            <a:pPr marL="0" indent="0">
              <a:buNone/>
            </a:pPr>
            <a:r>
              <a:rPr lang="es-E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BO" sz="1900" dirty="0">
                <a:latin typeface="Arial" panose="020B0604020202020204" pitchFamily="34" charset="0"/>
                <a:cs typeface="Arial" panose="020B0604020202020204" pitchFamily="34" charset="0"/>
              </a:rPr>
              <a:t> 2^2=4</a:t>
            </a:r>
            <a:endParaRPr lang="es-E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19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red                            hosts</a:t>
            </a:r>
          </a:p>
          <a:p>
            <a:pPr marL="0" indent="0">
              <a:buNone/>
            </a:pPr>
            <a:r>
              <a:rPr lang="en-US" altLang="es-BO" sz="1900" dirty="0">
                <a:latin typeface="Arial" panose="020B0604020202020204" pitchFamily="34" charset="0"/>
                <a:cs typeface="Arial" panose="020B0604020202020204" pitchFamily="34" charset="0"/>
              </a:rPr>
              <a:t>137.100.0.0              </a:t>
            </a:r>
            <a:r>
              <a:rPr lang="en-US" altLang="es-BO" sz="19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10001001.1100100.00000000.00000000</a:t>
            </a:r>
          </a:p>
          <a:p>
            <a:pPr marL="0" indent="0">
              <a:buNone/>
            </a:pPr>
            <a:r>
              <a:rPr lang="es-ES" sz="19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16 bits                         16bits</a:t>
            </a:r>
          </a:p>
          <a:p>
            <a:pPr marL="0" indent="0">
              <a:buNone/>
            </a:pPr>
            <a:r>
              <a:rPr lang="es-ES" sz="1900" dirty="0">
                <a:latin typeface="Arial" panose="020B0604020202020204" pitchFamily="34" charset="0"/>
                <a:cs typeface="Arial" panose="020B0604020202020204" pitchFamily="34" charset="0"/>
              </a:rPr>
              <a:t>255.255.252,0           11111111.11111111.111111</a:t>
            </a:r>
            <a:r>
              <a:rPr lang="es-ES" sz="19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00</a:t>
            </a:r>
            <a:r>
              <a:rPr lang="es-ES" sz="1900" dirty="0">
                <a:latin typeface="Arial" panose="020B0604020202020204" pitchFamily="34" charset="0"/>
                <a:cs typeface="Arial" panose="020B0604020202020204" pitchFamily="34" charset="0"/>
              </a:rPr>
              <a:t>.00000000             2^10-2=1022 hosts</a:t>
            </a:r>
            <a:br>
              <a:rPr lang="es-ES" sz="19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es-BO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s-BO" sz="1900" b="1" dirty="0">
                <a:latin typeface="Arial" panose="020B0604020202020204" pitchFamily="34" charset="0"/>
                <a:cs typeface="Arial" panose="020B0604020202020204" pitchFamily="34" charset="0"/>
              </a:rPr>
              <a:t>¿</a:t>
            </a:r>
            <a:r>
              <a:rPr lang="en-US" altLang="es-BO" sz="1900" b="1" dirty="0" err="1">
                <a:latin typeface="Arial" panose="020B0604020202020204" pitchFamily="34" charset="0"/>
                <a:cs typeface="Arial" panose="020B0604020202020204" pitchFamily="34" charset="0"/>
              </a:rPr>
              <a:t>Cuál</a:t>
            </a:r>
            <a:r>
              <a:rPr lang="en-US" altLang="es-BO" sz="1900" b="1" dirty="0">
                <a:latin typeface="Arial" panose="020B0604020202020204" pitchFamily="34" charset="0"/>
                <a:cs typeface="Arial" panose="020B0604020202020204" pitchFamily="34" charset="0"/>
              </a:rPr>
              <a:t> es la </a:t>
            </a:r>
            <a:r>
              <a:rPr lang="en-US" altLang="es-BO" sz="1900" b="1" dirty="0" err="1">
                <a:latin typeface="Arial" panose="020B0604020202020204" pitchFamily="34" charset="0"/>
                <a:cs typeface="Arial" panose="020B0604020202020204" pitchFamily="34" charset="0"/>
              </a:rPr>
              <a:t>máscara</a:t>
            </a:r>
            <a:r>
              <a:rPr lang="en-US" altLang="es-BO" sz="1900" b="1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s-BO" sz="1900" b="1" dirty="0" err="1">
                <a:latin typeface="Arial" panose="020B0604020202020204" pitchFamily="34" charset="0"/>
                <a:cs typeface="Arial" panose="020B0604020202020204" pitchFamily="34" charset="0"/>
              </a:rPr>
              <a:t>subred</a:t>
            </a:r>
            <a:r>
              <a:rPr lang="en-US" altLang="es-BO" sz="1900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>
              <a:buNone/>
            </a:pPr>
            <a:r>
              <a:rPr lang="en-US" altLang="es-BO" sz="1900" dirty="0">
                <a:latin typeface="Arial" panose="020B0604020202020204" pitchFamily="34" charset="0"/>
                <a:cs typeface="Arial" panose="020B0604020202020204" pitchFamily="34" charset="0"/>
              </a:rPr>
              <a:t>   255.255.252.0</a:t>
            </a:r>
          </a:p>
          <a:p>
            <a:r>
              <a:rPr lang="en-US" altLang="es-BO" sz="1900" b="1" dirty="0">
                <a:latin typeface="Arial" panose="020B0604020202020204" pitchFamily="34" charset="0"/>
                <a:cs typeface="Arial" panose="020B0604020202020204" pitchFamily="34" charset="0"/>
              </a:rPr>
              <a:t>Dar </a:t>
            </a:r>
            <a:r>
              <a:rPr lang="en-US" altLang="es-BO" sz="1900" b="1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altLang="es-BO" sz="19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BO" sz="1900" b="1" dirty="0" err="1">
                <a:latin typeface="Arial" panose="020B0604020202020204" pitchFamily="34" charset="0"/>
                <a:cs typeface="Arial" panose="020B0604020202020204" pitchFamily="34" charset="0"/>
              </a:rPr>
              <a:t>rangos</a:t>
            </a:r>
            <a:r>
              <a:rPr lang="en-US" altLang="es-BO" sz="1900" b="1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s-BO" sz="1900" b="1" dirty="0" err="1">
                <a:latin typeface="Arial" panose="020B0604020202020204" pitchFamily="34" charset="0"/>
                <a:cs typeface="Arial" panose="020B0604020202020204" pitchFamily="34" charset="0"/>
              </a:rPr>
              <a:t>direcciones</a:t>
            </a:r>
            <a:r>
              <a:rPr lang="en-US" altLang="es-BO" sz="1900" b="1" dirty="0">
                <a:latin typeface="Arial" panose="020B0604020202020204" pitchFamily="34" charset="0"/>
                <a:cs typeface="Arial" panose="020B0604020202020204" pitchFamily="34" charset="0"/>
              </a:rPr>
              <a:t> IP para </a:t>
            </a:r>
            <a:r>
              <a:rPr lang="en-US" altLang="es-BO" sz="1900" b="1" dirty="0" err="1">
                <a:latin typeface="Arial" panose="020B0604020202020204" pitchFamily="34" charset="0"/>
                <a:cs typeface="Arial" panose="020B0604020202020204" pitchFamily="34" charset="0"/>
              </a:rPr>
              <a:t>cada</a:t>
            </a:r>
            <a:r>
              <a:rPr lang="en-US" altLang="es-BO" sz="19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BO" sz="1900" b="1" dirty="0" err="1">
                <a:latin typeface="Arial" panose="020B0604020202020204" pitchFamily="34" charset="0"/>
                <a:cs typeface="Arial" panose="020B0604020202020204" pitchFamily="34" charset="0"/>
              </a:rPr>
              <a:t>subred</a:t>
            </a:r>
            <a:endParaRPr lang="en-US" altLang="es-BO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s-BO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BO" sz="1900" dirty="0" err="1">
                <a:latin typeface="Arial" panose="020B0604020202020204" pitchFamily="34" charset="0"/>
                <a:cs typeface="Arial" panose="020B0604020202020204" pitchFamily="34" charset="0"/>
              </a:rPr>
              <a:t>subred</a:t>
            </a:r>
            <a:r>
              <a:rPr lang="en-US" altLang="es-BO" sz="1900" dirty="0">
                <a:latin typeface="Arial" panose="020B0604020202020204" pitchFamily="34" charset="0"/>
                <a:cs typeface="Arial" panose="020B0604020202020204" pitchFamily="34" charset="0"/>
              </a:rPr>
              <a:t> 1   137.100.0.0/22	137.100.0.1 -- 137.100.3.254	137.100.3.255</a:t>
            </a:r>
          </a:p>
          <a:p>
            <a:pPr marL="0" indent="0">
              <a:buNone/>
            </a:pPr>
            <a:r>
              <a:rPr lang="en-US" altLang="es-BO" sz="1900" dirty="0" err="1">
                <a:latin typeface="Arial" panose="020B0604020202020204" pitchFamily="34" charset="0"/>
                <a:cs typeface="Arial" panose="020B0604020202020204" pitchFamily="34" charset="0"/>
              </a:rPr>
              <a:t>Subred</a:t>
            </a:r>
            <a:r>
              <a:rPr lang="en-US" altLang="es-BO" sz="1900" dirty="0">
                <a:latin typeface="Arial" panose="020B0604020202020204" pitchFamily="34" charset="0"/>
                <a:cs typeface="Arial" panose="020B0604020202020204" pitchFamily="34" charset="0"/>
              </a:rPr>
              <a:t> 2   137.100.4.0/22	137.100.4.1 -- 137.100.7.254	137.100.7.255</a:t>
            </a:r>
          </a:p>
          <a:p>
            <a:pPr marL="0" indent="0">
              <a:buNone/>
            </a:pPr>
            <a:r>
              <a:rPr lang="en-US" altLang="es-BO" sz="1900" dirty="0" err="1">
                <a:latin typeface="Arial" panose="020B0604020202020204" pitchFamily="34" charset="0"/>
                <a:cs typeface="Arial" panose="020B0604020202020204" pitchFamily="34" charset="0"/>
              </a:rPr>
              <a:t>Subred</a:t>
            </a:r>
            <a:r>
              <a:rPr lang="en-US" altLang="es-BO" sz="1900" dirty="0">
                <a:latin typeface="Arial" panose="020B0604020202020204" pitchFamily="34" charset="0"/>
                <a:cs typeface="Arial" panose="020B0604020202020204" pitchFamily="34" charset="0"/>
              </a:rPr>
              <a:t> 3   137.100.8.0/22	137.100.8.1 -- 137.100.11.254	137.100.11.255</a:t>
            </a:r>
          </a:p>
          <a:p>
            <a:pPr marL="0" indent="0">
              <a:buNone/>
            </a:pPr>
            <a:r>
              <a:rPr lang="en-US" altLang="es-BO" sz="1900" dirty="0" err="1">
                <a:latin typeface="Arial" panose="020B0604020202020204" pitchFamily="34" charset="0"/>
                <a:cs typeface="Arial" panose="020B0604020202020204" pitchFamily="34" charset="0"/>
              </a:rPr>
              <a:t>Subred</a:t>
            </a:r>
            <a:r>
              <a:rPr lang="en-US" altLang="es-BO" sz="1900" dirty="0">
                <a:latin typeface="Arial" panose="020B0604020202020204" pitchFamily="34" charset="0"/>
                <a:cs typeface="Arial" panose="020B0604020202020204" pitchFamily="34" charset="0"/>
              </a:rPr>
              <a:t> 4   137.100.12.0/22	137.100.12.1 -- 137.100.15.254	137.100.15.255</a:t>
            </a:r>
          </a:p>
          <a:p>
            <a:pPr marL="0" indent="0">
              <a:buNone/>
            </a:pPr>
            <a:r>
              <a:rPr lang="en-US" altLang="es-BO" sz="1900" dirty="0" err="1">
                <a:latin typeface="Arial" panose="020B0604020202020204" pitchFamily="34" charset="0"/>
                <a:cs typeface="Arial" panose="020B0604020202020204" pitchFamily="34" charset="0"/>
              </a:rPr>
              <a:t>Subred</a:t>
            </a:r>
            <a:r>
              <a:rPr lang="en-US" altLang="es-BO" sz="1900" dirty="0">
                <a:latin typeface="Arial" panose="020B0604020202020204" pitchFamily="34" charset="0"/>
                <a:cs typeface="Arial" panose="020B0604020202020204" pitchFamily="34" charset="0"/>
              </a:rPr>
              <a:t> 5   137.100.16.0/22	137.100.16.1 -- 137.100.19.254	137.100.19.255</a:t>
            </a:r>
          </a:p>
          <a:p>
            <a:pPr marL="0" indent="0">
              <a:buNone/>
            </a:pPr>
            <a:r>
              <a:rPr lang="en-US" altLang="es-BO" sz="1900" dirty="0" err="1">
                <a:latin typeface="Arial" panose="020B0604020202020204" pitchFamily="34" charset="0"/>
                <a:cs typeface="Arial" panose="020B0604020202020204" pitchFamily="34" charset="0"/>
              </a:rPr>
              <a:t>Subred</a:t>
            </a:r>
            <a:r>
              <a:rPr lang="en-US" altLang="es-BO" sz="1900" dirty="0">
                <a:latin typeface="Arial" panose="020B0604020202020204" pitchFamily="34" charset="0"/>
                <a:cs typeface="Arial" panose="020B0604020202020204" pitchFamily="34" charset="0"/>
              </a:rPr>
              <a:t> 6   137.100.20.0/22	137.100.20.1 -- 137.100.23.254	137.100.23.25</a:t>
            </a:r>
            <a:r>
              <a:rPr lang="en-US" altLang="es-BO" sz="1900" dirty="0"/>
              <a:t>5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FA02753-38F5-44CC-B937-CAC217DC6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711" y="160871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BO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8EB24AB-4159-409F-BAD4-1D2960010685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0" y="1023469"/>
            <a:ext cx="5421745" cy="53145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s-BO" dirty="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3">
            <a:extLst>
              <a:ext uri="{FF2B5EF4-FFF2-40B4-BE49-F238E27FC236}">
                <a16:creationId xmlns:a16="http://schemas.microsoft.com/office/drawing/2014/main" id="{0965F336-F094-44CC-2A6D-E142BF3A6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65877-3F4D-CE4A-8154-7A785C5AD6F1}" type="datetime3">
              <a:rPr lang="en-US" altLang="es-BO"/>
              <a:pPr/>
              <a:t>21 October 2023</a:t>
            </a:fld>
            <a:endParaRPr lang="en-US" altLang="es-BO"/>
          </a:p>
        </p:txBody>
      </p:sp>
      <p:sp>
        <p:nvSpPr>
          <p:cNvPr id="131074" name="Rectangle 2">
            <a:extLst>
              <a:ext uri="{FF2B5EF4-FFF2-40B4-BE49-F238E27FC236}">
                <a16:creationId xmlns:a16="http://schemas.microsoft.com/office/drawing/2014/main" id="{AE8EE306-01E1-BF51-DE61-369E82D23A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9612" y="239619"/>
            <a:ext cx="10515600" cy="1325563"/>
          </a:xfrm>
        </p:spPr>
        <p:txBody>
          <a:bodyPr/>
          <a:lstStyle/>
          <a:p>
            <a:r>
              <a:rPr lang="en-US" altLang="es-BO" dirty="0" err="1"/>
              <a:t>Ejercicios</a:t>
            </a:r>
            <a:r>
              <a:rPr lang="en-US" altLang="es-BO" dirty="0"/>
              <a:t>: </a:t>
            </a:r>
            <a:r>
              <a:rPr lang="en-US" altLang="es-BO" dirty="0" err="1"/>
              <a:t>Agregación</a:t>
            </a:r>
            <a:endParaRPr lang="en-US" altLang="es-BO" dirty="0"/>
          </a:p>
        </p:txBody>
      </p:sp>
      <p:sp>
        <p:nvSpPr>
          <p:cNvPr id="13107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22B432C-43D0-01B1-9C59-93D05B863D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s-BO" sz="2400" dirty="0"/>
              <a:t>Tiene las </a:t>
            </a:r>
            <a:r>
              <a:rPr lang="en-US" altLang="es-BO" sz="2400" dirty="0" err="1"/>
              <a:t>siguientes</a:t>
            </a:r>
            <a:r>
              <a:rPr lang="en-US" altLang="es-BO" sz="2400" dirty="0"/>
              <a:t> </a:t>
            </a:r>
            <a:r>
              <a:rPr lang="en-US" altLang="es-BO" sz="2400" dirty="0" err="1"/>
              <a:t>subredes</a:t>
            </a:r>
            <a:r>
              <a:rPr lang="en-US" altLang="es-BO" sz="2400" dirty="0"/>
              <a:t> </a:t>
            </a:r>
            <a:r>
              <a:rPr lang="en-US" altLang="es-BO" sz="2400" dirty="0" err="1"/>
              <a:t>asignadas</a:t>
            </a:r>
            <a:r>
              <a:rPr lang="en-US" altLang="es-BO" sz="2400" dirty="0"/>
              <a:t> a un </a:t>
            </a:r>
            <a:r>
              <a:rPr lang="en-US" altLang="es-BO" sz="2400" dirty="0" err="1"/>
              <a:t>edificio</a:t>
            </a:r>
            <a:r>
              <a:rPr lang="en-US" altLang="es-BO" sz="2400" dirty="0"/>
              <a:t>:</a:t>
            </a:r>
          </a:p>
          <a:p>
            <a:pPr lvl="1"/>
            <a:r>
              <a:rPr lang="en-US" altLang="es-BO" sz="2000" dirty="0"/>
              <a:t>192.168.1.0/26                  </a:t>
            </a:r>
          </a:p>
          <a:p>
            <a:pPr lvl="1"/>
            <a:r>
              <a:rPr lang="en-US" altLang="es-BO" sz="2000" dirty="0"/>
              <a:t>192.168.1.64/26</a:t>
            </a:r>
          </a:p>
          <a:p>
            <a:pPr lvl="1"/>
            <a:r>
              <a:rPr lang="en-US" altLang="es-BO" sz="2000" dirty="0"/>
              <a:t>192.168.1.128/27</a:t>
            </a:r>
          </a:p>
          <a:p>
            <a:pPr lvl="1"/>
            <a:r>
              <a:rPr lang="en-US" altLang="es-BO" sz="2000" dirty="0"/>
              <a:t>192.168.1.160/27</a:t>
            </a:r>
          </a:p>
          <a:p>
            <a:pPr lvl="1"/>
            <a:r>
              <a:rPr lang="en-US" altLang="es-BO" sz="2000" dirty="0"/>
              <a:t>192.168.1.192/27</a:t>
            </a:r>
          </a:p>
          <a:p>
            <a:pPr lvl="1"/>
            <a:r>
              <a:rPr lang="en-US" altLang="es-BO" sz="2000" dirty="0"/>
              <a:t>192.168.1.224/27</a:t>
            </a:r>
          </a:p>
          <a:p>
            <a:r>
              <a:rPr lang="en-US" altLang="es-BO" sz="2400" dirty="0"/>
              <a:t>¿Si </a:t>
            </a:r>
            <a:r>
              <a:rPr lang="en-US" altLang="es-BO" sz="2400" dirty="0" err="1"/>
              <a:t>tiene</a:t>
            </a:r>
            <a:r>
              <a:rPr lang="en-US" altLang="es-BO" sz="2400" dirty="0"/>
              <a:t> que </a:t>
            </a:r>
            <a:r>
              <a:rPr lang="en-US" altLang="es-BO" sz="2400" dirty="0" err="1"/>
              <a:t>configurar</a:t>
            </a:r>
            <a:r>
              <a:rPr lang="en-US" altLang="es-BO" sz="2400" dirty="0"/>
              <a:t> </a:t>
            </a:r>
            <a:r>
              <a:rPr lang="en-US" altLang="es-BO" sz="2400" dirty="0" err="1"/>
              <a:t>su</a:t>
            </a:r>
            <a:r>
              <a:rPr lang="en-US" altLang="es-BO" sz="2400" dirty="0"/>
              <a:t> </a:t>
            </a:r>
            <a:r>
              <a:rPr lang="en-US" altLang="es-BO" sz="2400" dirty="0" err="1"/>
              <a:t>enrutador</a:t>
            </a:r>
            <a:r>
              <a:rPr lang="en-US" altLang="es-BO" sz="2400" dirty="0"/>
              <a:t> para que las </a:t>
            </a:r>
            <a:r>
              <a:rPr lang="en-US" altLang="es-BO" sz="2400" dirty="0" err="1"/>
              <a:t>resuma</a:t>
            </a:r>
            <a:r>
              <a:rPr lang="en-US" altLang="es-BO" sz="2400" dirty="0"/>
              <a:t> </a:t>
            </a:r>
            <a:r>
              <a:rPr lang="en-US" altLang="es-BO" sz="2400" dirty="0" err="1"/>
              <a:t>en</a:t>
            </a:r>
            <a:r>
              <a:rPr lang="en-US" altLang="es-BO" sz="2400" dirty="0"/>
              <a:t> una sola, </a:t>
            </a:r>
            <a:r>
              <a:rPr lang="en-US" altLang="es-BO" sz="2400" dirty="0" err="1"/>
              <a:t>cuál</a:t>
            </a:r>
            <a:r>
              <a:rPr lang="en-US" altLang="es-BO" sz="2400" dirty="0"/>
              <a:t> </a:t>
            </a:r>
            <a:r>
              <a:rPr lang="en-US" altLang="es-BO" sz="2400" dirty="0" err="1"/>
              <a:t>sería</a:t>
            </a:r>
            <a:r>
              <a:rPr lang="en-US" altLang="es-BO" sz="2400" dirty="0"/>
              <a:t>?</a:t>
            </a:r>
          </a:p>
          <a:p>
            <a:pPr marL="0" indent="0">
              <a:buNone/>
            </a:pPr>
            <a:r>
              <a:rPr lang="en-US" altLang="es-BO" sz="1500" dirty="0">
                <a:latin typeface="Arial" panose="020B0604020202020204" pitchFamily="34" charset="0"/>
                <a:cs typeface="Arial" panose="020B0604020202020204" pitchFamily="34" charset="0"/>
              </a:rPr>
              <a:t>192.168.1.0/26 =       11000000.10101000.00000001.00000000 </a:t>
            </a:r>
          </a:p>
          <a:p>
            <a:pPr marL="0" indent="0">
              <a:buNone/>
            </a:pPr>
            <a:r>
              <a:rPr lang="en-US" altLang="es-BO" sz="1500" dirty="0">
                <a:latin typeface="Arial" panose="020B0604020202020204" pitchFamily="34" charset="0"/>
                <a:cs typeface="Arial" panose="020B0604020202020204" pitchFamily="34" charset="0"/>
              </a:rPr>
              <a:t>192.168.1.64/26 =     11000000.10101000.00000001.01000000 </a:t>
            </a:r>
          </a:p>
          <a:p>
            <a:pPr marL="0" indent="0">
              <a:buNone/>
            </a:pPr>
            <a:r>
              <a:rPr lang="en-US" altLang="es-BO" sz="1500" dirty="0">
                <a:latin typeface="Arial" panose="020B0604020202020204" pitchFamily="34" charset="0"/>
                <a:cs typeface="Arial" panose="020B0604020202020204" pitchFamily="34" charset="0"/>
              </a:rPr>
              <a:t>192.168.1.128/27 =   11000000.10101000.00000001.10000000 </a:t>
            </a:r>
          </a:p>
          <a:p>
            <a:pPr marL="0" indent="0">
              <a:buNone/>
            </a:pPr>
            <a:r>
              <a:rPr lang="en-US" altLang="es-BO" sz="1500" dirty="0">
                <a:latin typeface="Arial" panose="020B0604020202020204" pitchFamily="34" charset="0"/>
                <a:cs typeface="Arial" panose="020B0604020202020204" pitchFamily="34" charset="0"/>
              </a:rPr>
              <a:t>192.168.1.160/27 =   11000000.10101000.00000001.10100000</a:t>
            </a:r>
          </a:p>
          <a:p>
            <a:pPr marL="0" indent="0">
              <a:buNone/>
            </a:pPr>
            <a:r>
              <a:rPr lang="en-US" altLang="es-BO" sz="1500" dirty="0">
                <a:latin typeface="Arial" panose="020B0604020202020204" pitchFamily="34" charset="0"/>
                <a:cs typeface="Arial" panose="020B0604020202020204" pitchFamily="34" charset="0"/>
              </a:rPr>
              <a:t> 192.168.1.192/27 =  11000000.10101000.00000001.11000000 </a:t>
            </a:r>
          </a:p>
          <a:p>
            <a:pPr marL="0" indent="0">
              <a:buNone/>
            </a:pPr>
            <a:r>
              <a:rPr lang="en-US" altLang="es-BO" sz="1500" dirty="0">
                <a:latin typeface="Arial" panose="020B0604020202020204" pitchFamily="34" charset="0"/>
                <a:cs typeface="Arial" panose="020B0604020202020204" pitchFamily="34" charset="0"/>
              </a:rPr>
              <a:t>192.168.1.224/27 =   11000000.10101000.00000001.11100000  </a:t>
            </a:r>
          </a:p>
          <a:p>
            <a:pPr marL="0" indent="0">
              <a:buNone/>
            </a:pPr>
            <a:r>
              <a:rPr lang="en-US" altLang="es-BO" sz="1500" dirty="0"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n-US" altLang="es-BO" sz="1500" dirty="0" err="1">
                <a:latin typeface="Arial" panose="020B0604020202020204" pitchFamily="34" charset="0"/>
                <a:cs typeface="Arial" panose="020B0604020202020204" pitchFamily="34" charset="0"/>
              </a:rPr>
              <a:t>enrutador</a:t>
            </a:r>
            <a:r>
              <a:rPr lang="en-US" altLang="es-BO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BO" sz="1500" dirty="0" err="1">
                <a:latin typeface="Arial" panose="020B0604020202020204" pitchFamily="34" charset="0"/>
                <a:cs typeface="Arial" panose="020B0604020202020204" pitchFamily="34" charset="0"/>
              </a:rPr>
              <a:t>seria</a:t>
            </a:r>
            <a:r>
              <a:rPr lang="en-US" altLang="es-BO" sz="15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BO" dirty="0"/>
              <a:t> </a:t>
            </a:r>
            <a:r>
              <a:rPr lang="es-BO" sz="1500" dirty="0">
                <a:latin typeface="Arial" panose="020B0604020202020204" pitchFamily="34" charset="0"/>
                <a:cs typeface="Arial" panose="020B0604020202020204" pitchFamily="34" charset="0"/>
              </a:rPr>
              <a:t>11000000.10101000.00000001.00000000 = 192.168.1.0/</a:t>
            </a:r>
            <a:r>
              <a:rPr lang="es-BO" sz="15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r>
              <a:rPr lang="es-BO" sz="1500" dirty="0"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s-BO" sz="15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255.255.255</a:t>
            </a:r>
            <a:r>
              <a:rPr lang="es-BO" sz="1500" dirty="0">
                <a:latin typeface="Arial" panose="020B0604020202020204" pitchFamily="34" charset="0"/>
                <a:cs typeface="Arial" panose="020B0604020202020204" pitchFamily="34" charset="0"/>
              </a:rPr>
              <a:t>.0    </a:t>
            </a:r>
          </a:p>
          <a:p>
            <a:pPr marL="0" indent="0">
              <a:buNone/>
            </a:pPr>
            <a:endParaRPr lang="en-US" altLang="es-BO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es-BO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951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3">
            <a:extLst>
              <a:ext uri="{FF2B5EF4-FFF2-40B4-BE49-F238E27FC236}">
                <a16:creationId xmlns:a16="http://schemas.microsoft.com/office/drawing/2014/main" id="{42F78B1A-14B3-D903-08A6-36FB39575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7E23-CE61-CC40-8C46-00B831267D3C}" type="datetime3">
              <a:rPr lang="en-US" altLang="es-BO"/>
              <a:pPr/>
              <a:t>22 October 2023</a:t>
            </a:fld>
            <a:endParaRPr lang="en-US" altLang="es-BO"/>
          </a:p>
        </p:txBody>
      </p:sp>
      <p:sp>
        <p:nvSpPr>
          <p:cNvPr id="136194" name="Rectangle 2">
            <a:extLst>
              <a:ext uri="{FF2B5EF4-FFF2-40B4-BE49-F238E27FC236}">
                <a16:creationId xmlns:a16="http://schemas.microsoft.com/office/drawing/2014/main" id="{E1DAE016-0405-C581-A49A-8AFCF087AC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4094" y="510988"/>
            <a:ext cx="10869706" cy="5845362"/>
          </a:xfrm>
        </p:spPr>
        <p:txBody>
          <a:bodyPr>
            <a:normAutofit fontScale="90000"/>
          </a:bodyPr>
          <a:lstStyle/>
          <a:p>
            <a:r>
              <a:rPr lang="en-US" altLang="es-BO" sz="1400" dirty="0" err="1">
                <a:latin typeface="Arial" panose="020B0604020202020204" pitchFamily="34" charset="0"/>
                <a:cs typeface="Arial" panose="020B0604020202020204" pitchFamily="34" charset="0"/>
              </a:rPr>
              <a:t>Ejercicios</a:t>
            </a:r>
            <a: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s-BO" sz="1400" dirty="0" err="1">
                <a:latin typeface="Arial" panose="020B0604020202020204" pitchFamily="34" charset="0"/>
                <a:cs typeface="Arial" panose="020B0604020202020204" pitchFamily="34" charset="0"/>
              </a:rPr>
              <a:t>Agregación</a:t>
            </a:r>
            <a:b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s-BO" sz="1400" dirty="0" err="1">
                <a:latin typeface="Arial" panose="020B0604020202020204" pitchFamily="34" charset="0"/>
                <a:cs typeface="Arial" panose="020B0604020202020204" pitchFamily="34" charset="0"/>
              </a:rPr>
              <a:t>Agregue</a:t>
            </a:r>
            <a: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s-BO" sz="1400" dirty="0" err="1">
                <a:latin typeface="Arial" panose="020B0604020202020204" pitchFamily="34" charset="0"/>
                <a:cs typeface="Arial" panose="020B0604020202020204" pitchFamily="34" charset="0"/>
              </a:rPr>
              <a:t>resuma</a:t>
            </a:r>
            <a: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  <a:t> los </a:t>
            </a:r>
            <a:r>
              <a:rPr lang="en-US" altLang="es-BO" sz="1400" dirty="0" err="1">
                <a:latin typeface="Arial" panose="020B0604020202020204" pitchFamily="34" charset="0"/>
                <a:cs typeface="Arial" panose="020B0604020202020204" pitchFamily="34" charset="0"/>
              </a:rPr>
              <a:t>siguientes</a:t>
            </a:r>
            <a: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BO" sz="1400" dirty="0" err="1">
                <a:latin typeface="Arial" panose="020B0604020202020204" pitchFamily="34" charset="0"/>
                <a:cs typeface="Arial" panose="020B0604020202020204" pitchFamily="34" charset="0"/>
              </a:rPr>
              <a:t>bloques</a:t>
            </a:r>
            <a: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  <a:t> lo </a:t>
            </a:r>
            <a:r>
              <a:rPr lang="en-US" altLang="es-BO" sz="1400"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  <a:t> possible </a:t>
            </a:r>
            <a:b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  <a:t>    decimal                </a:t>
            </a:r>
            <a:r>
              <a:rPr lang="en-US" altLang="es-BO" sz="1400" dirty="0" err="1">
                <a:latin typeface="Arial" panose="020B0604020202020204" pitchFamily="34" charset="0"/>
                <a:cs typeface="Arial" panose="020B0604020202020204" pitchFamily="34" charset="0"/>
              </a:rPr>
              <a:t>decimal</a:t>
            </a:r>
            <a: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</a:t>
            </a:r>
            <a:r>
              <a:rPr lang="en-US" altLang="es-BO" sz="1400" dirty="0" err="1">
                <a:latin typeface="Arial" panose="020B0604020202020204" pitchFamily="34" charset="0"/>
                <a:cs typeface="Arial" panose="020B0604020202020204" pitchFamily="34" charset="0"/>
              </a:rPr>
              <a:t>binario</a:t>
            </a:r>
            <a:b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  <a:t>10.1.1.0/24          255.255.255,0            </a:t>
            </a:r>
            <a:r>
              <a:rPr lang="en-US" altLang="es-BO" sz="14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00001010.00000001,000000</a:t>
            </a:r>
            <a: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  <a:t>01.00000000 </a:t>
            </a:r>
            <a:b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  <a:t>                  </a:t>
            </a:r>
            <a:b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  <a:t>10.1.2.0/24          255.255.255,0            </a:t>
            </a:r>
            <a:r>
              <a:rPr lang="en-US" altLang="es-BO" sz="14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00001010.00000001,000000</a:t>
            </a:r>
            <a: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  <a:t>10.00000000</a:t>
            </a:r>
            <a:b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  <a:t>10.1.3.0/24          255.255.255,0            </a:t>
            </a:r>
            <a:r>
              <a:rPr lang="en-US" altLang="es-BO" sz="14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00001010.00000001,000000</a:t>
            </a:r>
            <a: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  <a:t>11.00000000</a:t>
            </a:r>
            <a:b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  <a:t>10.1.4.0/24          255.255.255.0            </a:t>
            </a:r>
            <a:r>
              <a:rPr lang="en-US" altLang="es-BO" sz="14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00001010.00000001,00000</a:t>
            </a:r>
            <a:r>
              <a:rPr lang="en-US" altLang="es-BO" sz="1400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  <a:t>00.00000000</a:t>
            </a:r>
            <a:b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s-BO" sz="1400" dirty="0" err="1">
                <a:latin typeface="Arial" panose="020B0604020202020204" pitchFamily="34" charset="0"/>
                <a:cs typeface="Arial" panose="020B0604020202020204" pitchFamily="34" charset="0"/>
              </a:rPr>
              <a:t>nos</a:t>
            </a:r>
            <a: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BO" sz="1400" dirty="0" err="1">
                <a:latin typeface="Arial" panose="020B0604020202020204" pitchFamily="34" charset="0"/>
                <a:cs typeface="Arial" panose="020B0604020202020204" pitchFamily="34" charset="0"/>
              </a:rPr>
              <a:t>quedria</a:t>
            </a:r>
            <a: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  <a:t> 10,1,0,0/22 con una mascara  255.255.252,0</a:t>
            </a:r>
            <a:br>
              <a:rPr lang="en-US" altLang="es-BO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es-BO" dirty="0"/>
            </a:br>
            <a:endParaRPr lang="en-US" altLang="es-BO" dirty="0"/>
          </a:p>
        </p:txBody>
      </p:sp>
    </p:spTree>
    <p:extLst>
      <p:ext uri="{BB962C8B-B14F-4D97-AF65-F5344CB8AC3E}">
        <p14:creationId xmlns:p14="http://schemas.microsoft.com/office/powerpoint/2010/main" val="2608954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7" name="Picture 9">
            <a:extLst>
              <a:ext uri="{FF2B5EF4-FFF2-40B4-BE49-F238E27FC236}">
                <a16:creationId xmlns:a16="http://schemas.microsoft.com/office/drawing/2014/main" id="{EDE681DC-68FD-CFB9-175F-9DFF04291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848" y="2544128"/>
            <a:ext cx="8445500" cy="4100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251" name="2 Marcador de contenido">
            <a:extLst>
              <a:ext uri="{FF2B5EF4-FFF2-40B4-BE49-F238E27FC236}">
                <a16:creationId xmlns:a16="http://schemas.microsoft.com/office/drawing/2014/main" id="{D520E44D-86E0-91E8-F008-F74E34F4063A}"/>
              </a:ext>
            </a:extLst>
          </p:cNvPr>
          <p:cNvSpPr>
            <a:spLocks/>
          </p:cNvSpPr>
          <p:nvPr/>
        </p:nvSpPr>
        <p:spPr bwMode="auto">
          <a:xfrm>
            <a:off x="1067436" y="1143954"/>
            <a:ext cx="9001125" cy="1728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1950" indent="-361950" eaLnBrk="0" hangingPunct="0">
              <a:tabLst>
                <a:tab pos="361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361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361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361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361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Blip>
                <a:blip r:embed="rId3"/>
              </a:buBlip>
            </a:pPr>
            <a:r>
              <a:rPr lang="es-ES" altLang="es-BO" sz="2000" dirty="0"/>
              <a:t>Para la topología, se tiene el siguiente dirección de red </a:t>
            </a:r>
            <a:r>
              <a:rPr lang="es-ES" altLang="es-BO" sz="2000" b="1" dirty="0"/>
              <a:t>192.168.10.0/24</a:t>
            </a:r>
          </a:p>
          <a:p>
            <a:pPr eaLnBrk="1" hangingPunct="1">
              <a:buFontTx/>
              <a:buBlip>
                <a:blip r:embed="rId3"/>
              </a:buBlip>
            </a:pPr>
            <a:r>
              <a:rPr lang="es-ES" altLang="es-BO" sz="2000" dirty="0"/>
              <a:t>Determine la cantidad de subredes</a:t>
            </a:r>
          </a:p>
          <a:p>
            <a:pPr eaLnBrk="1" hangingPunct="1">
              <a:buFontTx/>
              <a:buBlip>
                <a:blip r:embed="rId3"/>
              </a:buBlip>
            </a:pPr>
            <a:r>
              <a:rPr lang="es-ES" altLang="es-BO" sz="2000" dirty="0"/>
              <a:t>Ordene de mayor a menor</a:t>
            </a:r>
          </a:p>
          <a:p>
            <a:pPr eaLnBrk="1" hangingPunct="1">
              <a:buFontTx/>
              <a:buBlip>
                <a:blip r:embed="rId3"/>
              </a:buBlip>
            </a:pPr>
            <a:r>
              <a:rPr lang="es-ES" altLang="es-BO" sz="2000" dirty="0"/>
              <a:t>Divida la red usando VLSM</a:t>
            </a:r>
          </a:p>
          <a:p>
            <a:pPr eaLnBrk="1" hangingPunct="1">
              <a:buFontTx/>
              <a:buBlip>
                <a:blip r:embed="rId3"/>
              </a:buBlip>
            </a:pPr>
            <a:r>
              <a:rPr lang="es-ES" altLang="es-BO" sz="2000" dirty="0"/>
              <a:t>Asigne direcciones IP.</a:t>
            </a:r>
          </a:p>
          <a:p>
            <a:pPr eaLnBrk="1" hangingPunct="1">
              <a:buFontTx/>
              <a:buBlip>
                <a:blip r:embed="rId3"/>
              </a:buBlip>
            </a:pPr>
            <a:endParaRPr lang="es-ES" altLang="es-BO" sz="2000" dirty="0"/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id="{A0C9CF53-A563-DF02-6E38-14A856C0E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9848" y="352258"/>
            <a:ext cx="6192837" cy="4572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s-ES" altLang="es-BO" sz="2400" b="1" dirty="0">
                <a:solidFill>
                  <a:schemeClr val="bg1"/>
                </a:solidFill>
              </a:rPr>
              <a:t>Ejercicio 1</a:t>
            </a:r>
          </a:p>
        </p:txBody>
      </p:sp>
    </p:spTree>
    <p:extLst>
      <p:ext uri="{BB962C8B-B14F-4D97-AF65-F5344CB8AC3E}">
        <p14:creationId xmlns:p14="http://schemas.microsoft.com/office/powerpoint/2010/main" val="2962459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BAEFB0B-F89F-49A0-B8A6-98DCCD18A20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190459" y="179294"/>
                <a:ext cx="11811083" cy="5946869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endParaRPr lang="es-ES" altLang="es-BO" dirty="0"/>
              </a:p>
              <a:p>
                <a:pPr marL="0" indent="0">
                  <a:buNone/>
                </a:pPr>
                <a:endParaRPr lang="es-ES" altLang="es-BO" dirty="0"/>
              </a:p>
              <a:p>
                <a:pPr marL="0" indent="0">
                  <a:buNone/>
                </a:pPr>
                <a:r>
                  <a:rPr lang="es-ES" altLang="es-BO" dirty="0"/>
                  <a:t>Para la topología, se tiene el siguiente dirección de red </a:t>
                </a:r>
                <a:r>
                  <a:rPr lang="es-ES" altLang="es-BO" b="1" dirty="0"/>
                  <a:t>192.168.10.0/24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40 host cuzco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ES" altLang="es-BO" sz="1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BO" altLang="es-BO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BO" altLang="es-BO" sz="12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-2=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altLang="es-BO" sz="1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BO" altLang="es-BO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BO" altLang="es-BO" sz="12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  <m:r>
                      <a:rPr lang="es-BO" altLang="es-BO" sz="12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BO" altLang="es-BO" sz="12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BO" altLang="es-BO" sz="1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BO" altLang="es-BO" sz="1200" b="1" i="1" smtClean="0">
                        <a:latin typeface="Cambria Math" panose="02040503050406030204" pitchFamily="18" charset="0"/>
                      </a:rPr>
                      <m:t>𝟔𝟐</m:t>
                    </m:r>
                    <m:r>
                      <a:rPr lang="es-BO" altLang="es-BO" sz="1200" b="1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s-BO" altLang="es-BO" sz="1200" b="1" i="1" smtClean="0">
                        <a:latin typeface="Cambria Math" panose="02040503050406030204" pitchFamily="18" charset="0"/>
                      </a:rPr>
                      <m:t>𝒎𝒂𝒔𝒄𝒂𝒓𝒂</m:t>
                    </m:r>
                    <m:r>
                      <a:rPr lang="es-BO" altLang="es-BO" sz="12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BO" altLang="es-BO" sz="1200" b="1" i="1" smtClean="0">
                        <a:latin typeface="Cambria Math" panose="02040503050406030204" pitchFamily="18" charset="0"/>
                      </a:rPr>
                      <m:t>𝟑𝟐</m:t>
                    </m:r>
                    <m:r>
                      <a:rPr lang="es-BO" altLang="es-BO" sz="12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BO" altLang="es-BO" sz="1200" b="1" i="1" smtClean="0">
                        <a:latin typeface="Cambria Math" panose="02040503050406030204" pitchFamily="18" charset="0"/>
                      </a:rPr>
                      <m:t>𝟔</m:t>
                    </m:r>
                    <m:r>
                      <a:rPr lang="es-BO" altLang="es-BO" sz="1200" b="1" i="1" smtClean="0">
                        <a:latin typeface="Cambria Math" panose="02040503050406030204" pitchFamily="18" charset="0"/>
                      </a:rPr>
                      <m:t>=/</m:t>
                    </m:r>
                    <m:r>
                      <a:rPr lang="es-BO" altLang="es-BO" sz="1200" b="1" i="1" smtClean="0">
                        <a:latin typeface="Cambria Math" panose="02040503050406030204" pitchFamily="18" charset="0"/>
                      </a:rPr>
                      <m:t>𝟐𝟔</m:t>
                    </m:r>
                  </m:oMath>
                </a14:m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)        255.255.255.192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Saltos 256-192=64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40 host Arequipa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ES" altLang="es-BO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-2=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altLang="es-BO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𝟔𝟐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𝒎𝒂𝒔𝒄𝒂𝒓𝒂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𝟑𝟐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𝟔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=/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𝟐𝟔</m:t>
                    </m:r>
                  </m:oMath>
                </a14:m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)        255.255.255.192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Saltos 256-192=64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30 host Lima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ES" altLang="es-BO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-2=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altLang="es-BO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BO" altLang="es-BO" sz="12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BO" altLang="es-BO" sz="1200" b="1" i="1" smtClean="0">
                        <a:latin typeface="Cambria Math" panose="02040503050406030204" pitchFamily="18" charset="0"/>
                      </a:rPr>
                      <m:t>𝟑𝟎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𝒎𝒂𝒔𝒄𝒂𝒓𝒂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𝟑𝟐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BO" altLang="es-BO" sz="12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=/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𝟐𝟕</m:t>
                    </m:r>
                  </m:oMath>
                </a14:m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)        255.255.255.224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Saltos 256-224=32</a:t>
                </a:r>
              </a:p>
              <a:p>
                <a:pPr marL="457200" indent="-457200">
                  <a:lnSpc>
                    <a:spcPct val="100000"/>
                  </a:lnSpc>
                  <a:buAutoNum type="arabicPlain" startAt="30"/>
                </a:pPr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Host Ica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altLang="es-BO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-2=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altLang="es-BO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𝟑𝟎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𝒎𝒂𝒔𝒄𝒂𝒓𝒂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𝟑𝟐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=/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𝟐𝟕</m:t>
                    </m:r>
                  </m:oMath>
                </a14:m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)        255.255.255.224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Saltos 256-224=32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3 subredes de 2 host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ES" altLang="es-BO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-2=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altLang="es-BO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BO" altLang="es-BO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BO" altLang="es-BO" sz="12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𝒎𝒂𝒔𝒄𝒂𝒓𝒂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𝟑𝟐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BO" altLang="es-BO" sz="12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=/</m:t>
                    </m:r>
                    <m:r>
                      <a:rPr lang="es-BO" altLang="es-BO" sz="1200" b="1" i="1" smtClean="0">
                        <a:latin typeface="Cambria Math" panose="02040503050406030204" pitchFamily="18" charset="0"/>
                      </a:rPr>
                      <m:t>𝟑𝟎</m:t>
                    </m:r>
                  </m:oMath>
                </a14:m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         255.255.255.252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Saltos 256-252=4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s-ES" altLang="es-BO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s-ES" altLang="es-BO" b="1" dirty="0"/>
              </a:p>
              <a:p>
                <a:pPr marL="0" indent="0">
                  <a:buNone/>
                </a:pPr>
                <a:endParaRPr lang="es-ES" altLang="es-BO" b="1" dirty="0"/>
              </a:p>
              <a:p>
                <a:pPr marL="0" indent="0">
                  <a:buNone/>
                </a:pPr>
                <a:endParaRPr lang="es-BO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BAEFB0B-F89F-49A0-B8A6-98DCCD18A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90459" y="179294"/>
                <a:ext cx="11811083" cy="5946869"/>
              </a:xfrm>
              <a:blipFill>
                <a:blip r:embed="rId2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es-BO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DE0C0B20-453F-4DD3-9160-2B8E5801D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3356"/>
              </p:ext>
            </p:extLst>
          </p:nvPr>
        </p:nvGraphicFramePr>
        <p:xfrm>
          <a:off x="5056094" y="1712260"/>
          <a:ext cx="6819942" cy="4022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3321">
                  <a:extLst>
                    <a:ext uri="{9D8B030D-6E8A-4147-A177-3AD203B41FA5}">
                      <a16:colId xmlns:a16="http://schemas.microsoft.com/office/drawing/2014/main" val="4042890260"/>
                    </a:ext>
                  </a:extLst>
                </a:gridCol>
                <a:gridCol w="1202852">
                  <a:extLst>
                    <a:ext uri="{9D8B030D-6E8A-4147-A177-3AD203B41FA5}">
                      <a16:colId xmlns:a16="http://schemas.microsoft.com/office/drawing/2014/main" val="763401223"/>
                    </a:ext>
                  </a:extLst>
                </a:gridCol>
                <a:gridCol w="1220805">
                  <a:extLst>
                    <a:ext uri="{9D8B030D-6E8A-4147-A177-3AD203B41FA5}">
                      <a16:colId xmlns:a16="http://schemas.microsoft.com/office/drawing/2014/main" val="3555723393"/>
                    </a:ext>
                  </a:extLst>
                </a:gridCol>
                <a:gridCol w="1184899">
                  <a:extLst>
                    <a:ext uri="{9D8B030D-6E8A-4147-A177-3AD203B41FA5}">
                      <a16:colId xmlns:a16="http://schemas.microsoft.com/office/drawing/2014/main" val="79235606"/>
                    </a:ext>
                  </a:extLst>
                </a:gridCol>
                <a:gridCol w="1200868">
                  <a:extLst>
                    <a:ext uri="{9D8B030D-6E8A-4147-A177-3AD203B41FA5}">
                      <a16:colId xmlns:a16="http://schemas.microsoft.com/office/drawing/2014/main" val="3662495494"/>
                    </a:ext>
                  </a:extLst>
                </a:gridCol>
                <a:gridCol w="987197">
                  <a:extLst>
                    <a:ext uri="{9D8B030D-6E8A-4147-A177-3AD203B41FA5}">
                      <a16:colId xmlns:a16="http://schemas.microsoft.com/office/drawing/2014/main" val="1159683666"/>
                    </a:ext>
                  </a:extLst>
                </a:gridCol>
              </a:tblGrid>
              <a:tr h="513518">
                <a:tc>
                  <a:txBody>
                    <a:bodyPr/>
                    <a:lstStyle/>
                    <a:p>
                      <a:pPr algn="ctr"/>
                      <a:r>
                        <a:rPr lang="es-BO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PRIMERA IP ASIGNABLE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SEGUNDA IP ASIGNABLE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BROADCAST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MASCARA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021710"/>
                  </a:ext>
                </a:extLst>
              </a:tr>
              <a:tr h="513518"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 HOST CUZCO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192.168.10.1</a:t>
                      </a:r>
                    </a:p>
                    <a:p>
                      <a:pPr algn="ctr"/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192.168.10.62</a:t>
                      </a:r>
                    </a:p>
                    <a:p>
                      <a:pPr algn="ctr"/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192.168.10.63</a:t>
                      </a:r>
                    </a:p>
                    <a:p>
                      <a:pPr algn="ctr"/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330992"/>
                  </a:ext>
                </a:extLst>
              </a:tr>
              <a:tr h="427971"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 HOST AREQUIPA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192.168.10.64</a:t>
                      </a:r>
                    </a:p>
                    <a:p>
                      <a:pPr algn="ctr"/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192.168.10.65</a:t>
                      </a:r>
                    </a:p>
                    <a:p>
                      <a:pPr algn="ctr"/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192.168.10.126</a:t>
                      </a:r>
                    </a:p>
                    <a:p>
                      <a:pPr algn="ctr"/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192.168.10.127</a:t>
                      </a:r>
                    </a:p>
                    <a:p>
                      <a:pPr algn="ctr"/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101882"/>
                  </a:ext>
                </a:extLst>
              </a:tr>
              <a:tr h="513518"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 HOST LIMA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192.168.10.128</a:t>
                      </a:r>
                    </a:p>
                    <a:p>
                      <a:pPr algn="ctr"/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192.168.10.129</a:t>
                      </a:r>
                    </a:p>
                    <a:p>
                      <a:pPr algn="ctr"/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192.168.10.158</a:t>
                      </a:r>
                    </a:p>
                    <a:p>
                      <a:pPr algn="ctr"/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192.168.10.159</a:t>
                      </a:r>
                    </a:p>
                    <a:p>
                      <a:pPr algn="ctr"/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872451"/>
                  </a:ext>
                </a:extLst>
              </a:tr>
              <a:tr h="513518"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 HOST  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192.168.10.160</a:t>
                      </a:r>
                    </a:p>
                    <a:p>
                      <a:pPr algn="ctr"/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192.168.161</a:t>
                      </a:r>
                    </a:p>
                    <a:p>
                      <a:pPr algn="ctr"/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192.168.10.190</a:t>
                      </a:r>
                    </a:p>
                    <a:p>
                      <a:pPr algn="ctr"/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192.168.10.191</a:t>
                      </a:r>
                    </a:p>
                    <a:p>
                      <a:pPr algn="ctr"/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615870"/>
                  </a:ext>
                </a:extLst>
              </a:tr>
              <a:tr h="513518"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ENLACE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192.168.10.192</a:t>
                      </a:r>
                    </a:p>
                    <a:p>
                      <a:pPr algn="ctr"/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192.168.10.193</a:t>
                      </a:r>
                    </a:p>
                    <a:p>
                      <a:pPr algn="ctr"/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192.168.10.194</a:t>
                      </a:r>
                    </a:p>
                    <a:p>
                      <a:pPr algn="ctr"/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192.168.10.195</a:t>
                      </a:r>
                    </a:p>
                    <a:p>
                      <a:pPr algn="ctr"/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024746"/>
                  </a:ext>
                </a:extLst>
              </a:tr>
              <a:tr h="513518"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ENLACE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192.168.10.196</a:t>
                      </a:r>
                    </a:p>
                    <a:p>
                      <a:pPr algn="ctr"/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192.168.10.197</a:t>
                      </a:r>
                    </a:p>
                    <a:p>
                      <a:pPr algn="ctr"/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192.168.10.198</a:t>
                      </a:r>
                    </a:p>
                    <a:p>
                      <a:pPr algn="ctr"/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192.168.10.199</a:t>
                      </a:r>
                    </a:p>
                    <a:p>
                      <a:pPr algn="ctr"/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881118"/>
                  </a:ext>
                </a:extLst>
              </a:tr>
              <a:tr h="513518"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ENLACE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192.168.10.200</a:t>
                      </a:r>
                    </a:p>
                    <a:p>
                      <a:pPr algn="ctr"/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192.168.10.201</a:t>
                      </a:r>
                    </a:p>
                    <a:p>
                      <a:pPr algn="ctr"/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192.168.10.202</a:t>
                      </a:r>
                    </a:p>
                    <a:p>
                      <a:pPr algn="ctr"/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192.168.10.203</a:t>
                      </a:r>
                    </a:p>
                    <a:p>
                      <a:pPr algn="ctr"/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145708"/>
                  </a:ext>
                </a:extLst>
              </a:tr>
            </a:tbl>
          </a:graphicData>
        </a:graphic>
      </p:graphicFrame>
      <p:sp>
        <p:nvSpPr>
          <p:cNvPr id="8" name="Rectangle 6">
            <a:extLst>
              <a:ext uri="{FF2B5EF4-FFF2-40B4-BE49-F238E27FC236}">
                <a16:creationId xmlns:a16="http://schemas.microsoft.com/office/drawing/2014/main" id="{5CA6FD93-0C73-43E5-A54D-685C6E889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412" y="179294"/>
            <a:ext cx="6192837" cy="4572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s-ES" altLang="es-BO" sz="2400" b="1" dirty="0">
                <a:solidFill>
                  <a:schemeClr val="bg1"/>
                </a:solidFill>
              </a:rPr>
              <a:t>Ejercicio 1</a:t>
            </a:r>
          </a:p>
        </p:txBody>
      </p:sp>
    </p:spTree>
    <p:extLst>
      <p:ext uri="{BB962C8B-B14F-4D97-AF65-F5344CB8AC3E}">
        <p14:creationId xmlns:p14="http://schemas.microsoft.com/office/powerpoint/2010/main" val="1374283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65" name="Picture 9">
            <a:extLst>
              <a:ext uri="{FF2B5EF4-FFF2-40B4-BE49-F238E27FC236}">
                <a16:creationId xmlns:a16="http://schemas.microsoft.com/office/drawing/2014/main" id="{421B6C4F-794F-CC3B-1AAA-45DE7D833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9214" y="1639254"/>
            <a:ext cx="6048375" cy="4878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661" name="Rectangle 5">
            <a:extLst>
              <a:ext uri="{FF2B5EF4-FFF2-40B4-BE49-F238E27FC236}">
                <a16:creationId xmlns:a16="http://schemas.microsoft.com/office/drawing/2014/main" id="{4EC29D0B-5F01-BEC2-DC39-F23E6ABB4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1289" y="486728"/>
            <a:ext cx="6192837" cy="4572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s-ES" altLang="es-BO" sz="2400" b="1">
                <a:solidFill>
                  <a:schemeClr val="bg1"/>
                </a:solidFill>
              </a:rPr>
              <a:t>Ejercicio 2</a:t>
            </a:r>
          </a:p>
        </p:txBody>
      </p:sp>
      <p:sp>
        <p:nvSpPr>
          <p:cNvPr id="70664" name="Rectangle 8">
            <a:extLst>
              <a:ext uri="{FF2B5EF4-FFF2-40B4-BE49-F238E27FC236}">
                <a16:creationId xmlns:a16="http://schemas.microsoft.com/office/drawing/2014/main" id="{6888FF6C-5633-EB46-5EE2-13F4D2AD0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1288" y="1136016"/>
            <a:ext cx="8748712" cy="1616075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s-ES" altLang="es-BO" sz="2000" dirty="0"/>
              <a:t>Para la topología, se tiene el siguiente dirección de red </a:t>
            </a:r>
            <a:r>
              <a:rPr lang="es-ES" altLang="es-BO" sz="2000" b="1" dirty="0"/>
              <a:t>172.16.20.0/24</a:t>
            </a:r>
          </a:p>
          <a:p>
            <a:pPr>
              <a:buFontTx/>
              <a:buBlip>
                <a:blip r:embed="rId3"/>
              </a:buBlip>
            </a:pPr>
            <a:r>
              <a:rPr lang="es-ES" altLang="es-BO" sz="2000" dirty="0"/>
              <a:t>Determine la cantidad de subredes</a:t>
            </a:r>
          </a:p>
          <a:p>
            <a:pPr>
              <a:buFontTx/>
              <a:buBlip>
                <a:blip r:embed="rId3"/>
              </a:buBlip>
            </a:pPr>
            <a:r>
              <a:rPr lang="es-ES" altLang="es-BO" sz="2000" dirty="0"/>
              <a:t>Ordene de mayor a menor</a:t>
            </a:r>
          </a:p>
          <a:p>
            <a:pPr>
              <a:buFontTx/>
              <a:buBlip>
                <a:blip r:embed="rId3"/>
              </a:buBlip>
            </a:pPr>
            <a:r>
              <a:rPr lang="es-ES" altLang="es-BO" sz="2000" dirty="0"/>
              <a:t>Divida la red usando VLSM</a:t>
            </a:r>
          </a:p>
          <a:p>
            <a:pPr>
              <a:buFontTx/>
              <a:buBlip>
                <a:blip r:embed="rId3"/>
              </a:buBlip>
            </a:pPr>
            <a:r>
              <a:rPr lang="es-ES" altLang="es-BO" sz="2000" dirty="0"/>
              <a:t>Asigne direcciones IP.</a:t>
            </a:r>
          </a:p>
        </p:txBody>
      </p:sp>
    </p:spTree>
    <p:extLst>
      <p:ext uri="{BB962C8B-B14F-4D97-AF65-F5344CB8AC3E}">
        <p14:creationId xmlns:p14="http://schemas.microsoft.com/office/powerpoint/2010/main" val="2630629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1" name="Rectangle 5">
            <a:extLst>
              <a:ext uri="{FF2B5EF4-FFF2-40B4-BE49-F238E27FC236}">
                <a16:creationId xmlns:a16="http://schemas.microsoft.com/office/drawing/2014/main" id="{4EC29D0B-5F01-BEC2-DC39-F23E6ABB4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1289" y="486728"/>
            <a:ext cx="6192837" cy="4572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s-ES" altLang="es-BO" sz="2400" b="1">
                <a:solidFill>
                  <a:schemeClr val="bg1"/>
                </a:solidFill>
              </a:rPr>
              <a:t>Ejercicio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ángulo 1">
                <a:extLst>
                  <a:ext uri="{FF2B5EF4-FFF2-40B4-BE49-F238E27FC236}">
                    <a16:creationId xmlns:a16="http://schemas.microsoft.com/office/drawing/2014/main" id="{E62FB84A-F694-4423-8FF4-8051A99FFA10}"/>
                  </a:ext>
                </a:extLst>
              </p:cNvPr>
              <p:cNvSpPr/>
              <p:nvPr/>
            </p:nvSpPr>
            <p:spPr>
              <a:xfrm>
                <a:off x="197224" y="1008690"/>
                <a:ext cx="11788588" cy="61166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ES" altLang="es-BO" dirty="0"/>
                  <a:t>Para la topología, se tiene el siguiente dirección de red </a:t>
                </a:r>
                <a:r>
                  <a:rPr lang="es-ES" altLang="es-BO" b="1" dirty="0"/>
                  <a:t>172.16.20.0/24</a:t>
                </a:r>
              </a:p>
              <a:p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60 host cuzco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altLang="es-BO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-2=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altLang="es-BO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𝟔𝟐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𝒎𝒂𝒔𝒄𝒂𝒓𝒂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𝟑𝟐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𝟔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=/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𝟐𝟔</m:t>
                    </m:r>
                  </m:oMath>
                </a14:m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)        255.255.255.192</a:t>
                </a:r>
              </a:p>
              <a:p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Saltos 256-192=64 </a:t>
                </a:r>
              </a:p>
              <a:p>
                <a:endParaRPr lang="es-ES" altLang="es-BO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12 host Arequipa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altLang="es-BO" sz="1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-2=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altLang="es-BO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BO" altLang="es-BO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BO" altLang="es-BO" sz="1200" b="1" i="1" smtClean="0">
                        <a:latin typeface="Cambria Math" panose="02040503050406030204" pitchFamily="18" charset="0"/>
                      </a:rPr>
                      <m:t>𝟏𝟒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𝒎𝒂𝒔𝒄𝒂𝒓𝒂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𝟑𝟐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BO" altLang="es-BO" sz="12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=/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𝟐𝟖</m:t>
                    </m:r>
                  </m:oMath>
                </a14:m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)        255.255.255.240</a:t>
                </a:r>
              </a:p>
              <a:p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saltos 256-240=16</a:t>
                </a:r>
              </a:p>
              <a:p>
                <a:endParaRPr lang="es-ES" altLang="es-BO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28 host Lima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altLang="es-BO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-2=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altLang="es-BO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𝟑𝟎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𝒎𝒂𝒔𝒄𝒂𝒓𝒂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𝟑𝟐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=/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𝟐𝟕</m:t>
                    </m:r>
                  </m:oMath>
                </a14:m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)        255.255.255.224</a:t>
                </a:r>
              </a:p>
              <a:p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Saltos 256-224=32</a:t>
                </a:r>
              </a:p>
              <a:p>
                <a:endParaRPr lang="es-ES" altLang="es-BO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12 Host Ica</a:t>
                </a:r>
              </a:p>
              <a:p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altLang="es-BO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-2=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altLang="es-BO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BO" altLang="es-BO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BO" altLang="es-BO" sz="1200" b="1" i="1" smtClean="0">
                        <a:latin typeface="Cambria Math" panose="02040503050406030204" pitchFamily="18" charset="0"/>
                      </a:rPr>
                      <m:t>𝟏𝟒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𝒎𝒂𝒔𝒄𝒂𝒓𝒂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𝟑𝟐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=/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𝟐𝟖</m:t>
                    </m:r>
                  </m:oMath>
                </a14:m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)        255.255.255.240</a:t>
                </a:r>
              </a:p>
              <a:p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Saltos 256-240=16</a:t>
                </a:r>
              </a:p>
              <a:p>
                <a:endParaRPr lang="es-ES" altLang="es-BO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3 subredes de 2 host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altLang="es-BO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-2=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altLang="es-BO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BO" altLang="es-BO" sz="12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𝒎𝒂𝒔𝒄𝒂𝒓𝒂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𝟑𝟐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=/</m:t>
                    </m:r>
                    <m:r>
                      <a:rPr lang="es-BO" altLang="es-BO" sz="1200" b="1" i="1">
                        <a:latin typeface="Cambria Math" panose="02040503050406030204" pitchFamily="18" charset="0"/>
                      </a:rPr>
                      <m:t>𝟑𝟎</m:t>
                    </m:r>
                  </m:oMath>
                </a14:m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         255.255.255.252</a:t>
                </a:r>
              </a:p>
              <a:p>
                <a:r>
                  <a:rPr lang="es-ES" altLang="es-BO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Saltos 256-252=4</a:t>
                </a:r>
              </a:p>
              <a:p>
                <a:endParaRPr lang="es-ES" altLang="es-BO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ES" altLang="es-BO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ES" altLang="es-BO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ES" altLang="es-BO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ES" altLang="es-BO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ES" altLang="es-BO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ES" altLang="es-BO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ES" altLang="es-BO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Rectángulo 1">
                <a:extLst>
                  <a:ext uri="{FF2B5EF4-FFF2-40B4-BE49-F238E27FC236}">
                    <a16:creationId xmlns:a16="http://schemas.microsoft.com/office/drawing/2014/main" id="{E62FB84A-F694-4423-8FF4-8051A99FFA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224" y="1008690"/>
                <a:ext cx="11788588" cy="6116674"/>
              </a:xfrm>
              <a:prstGeom prst="rect">
                <a:avLst/>
              </a:prstGeom>
              <a:blipFill>
                <a:blip r:embed="rId2"/>
                <a:stretch>
                  <a:fillRect l="-414" t="-498"/>
                </a:stretch>
              </a:blipFill>
            </p:spPr>
            <p:txBody>
              <a:bodyPr/>
              <a:lstStyle/>
              <a:p>
                <a:r>
                  <a:rPr lang="es-BO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0BF4F072-6E93-4EAD-AEBC-B7F0961736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206322"/>
              </p:ext>
            </p:extLst>
          </p:nvPr>
        </p:nvGraphicFramePr>
        <p:xfrm>
          <a:off x="5056094" y="1712260"/>
          <a:ext cx="6819942" cy="4022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3321">
                  <a:extLst>
                    <a:ext uri="{9D8B030D-6E8A-4147-A177-3AD203B41FA5}">
                      <a16:colId xmlns:a16="http://schemas.microsoft.com/office/drawing/2014/main" val="4042890260"/>
                    </a:ext>
                  </a:extLst>
                </a:gridCol>
                <a:gridCol w="1202852">
                  <a:extLst>
                    <a:ext uri="{9D8B030D-6E8A-4147-A177-3AD203B41FA5}">
                      <a16:colId xmlns:a16="http://schemas.microsoft.com/office/drawing/2014/main" val="763401223"/>
                    </a:ext>
                  </a:extLst>
                </a:gridCol>
                <a:gridCol w="1220805">
                  <a:extLst>
                    <a:ext uri="{9D8B030D-6E8A-4147-A177-3AD203B41FA5}">
                      <a16:colId xmlns:a16="http://schemas.microsoft.com/office/drawing/2014/main" val="3555723393"/>
                    </a:ext>
                  </a:extLst>
                </a:gridCol>
                <a:gridCol w="1184899">
                  <a:extLst>
                    <a:ext uri="{9D8B030D-6E8A-4147-A177-3AD203B41FA5}">
                      <a16:colId xmlns:a16="http://schemas.microsoft.com/office/drawing/2014/main" val="79235606"/>
                    </a:ext>
                  </a:extLst>
                </a:gridCol>
                <a:gridCol w="1200868">
                  <a:extLst>
                    <a:ext uri="{9D8B030D-6E8A-4147-A177-3AD203B41FA5}">
                      <a16:colId xmlns:a16="http://schemas.microsoft.com/office/drawing/2014/main" val="3662495494"/>
                    </a:ext>
                  </a:extLst>
                </a:gridCol>
                <a:gridCol w="987197">
                  <a:extLst>
                    <a:ext uri="{9D8B030D-6E8A-4147-A177-3AD203B41FA5}">
                      <a16:colId xmlns:a16="http://schemas.microsoft.com/office/drawing/2014/main" val="1159683666"/>
                    </a:ext>
                  </a:extLst>
                </a:gridCol>
              </a:tblGrid>
              <a:tr h="513518">
                <a:tc>
                  <a:txBody>
                    <a:bodyPr/>
                    <a:lstStyle/>
                    <a:p>
                      <a:pPr algn="ctr"/>
                      <a:r>
                        <a:rPr lang="es-BO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PRIMERA IP ASIGNABLE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SEGUNDA IP ASIGNABLE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BROADCAST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MASCARA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021710"/>
                  </a:ext>
                </a:extLst>
              </a:tr>
              <a:tr h="513518"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 HOST CUZCO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172.16.20.0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172.16.20.1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172.16.20.62</a:t>
                      </a:r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172.16.20.63</a:t>
                      </a:r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330992"/>
                  </a:ext>
                </a:extLst>
              </a:tr>
              <a:tr h="427971"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 HOST AREQUIPA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172.16.20.64</a:t>
                      </a:r>
                    </a:p>
                    <a:p>
                      <a:pPr algn="ctr"/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172.16.20.65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172.16.20.78</a:t>
                      </a:r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172.16.20.79</a:t>
                      </a:r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101882"/>
                  </a:ext>
                </a:extLst>
              </a:tr>
              <a:tr h="513518"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 HOST LIMA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172.16.20.80</a:t>
                      </a:r>
                    </a:p>
                    <a:p>
                      <a:pPr algn="ctr"/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172.16.20.81</a:t>
                      </a:r>
                    </a:p>
                    <a:p>
                      <a:pPr algn="ctr"/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172.16.20.110</a:t>
                      </a:r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172.16.20.111</a:t>
                      </a:r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872451"/>
                  </a:ext>
                </a:extLst>
              </a:tr>
              <a:tr h="513518"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 HOST  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172.16.20.112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172.16.20.113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172.16.20.126</a:t>
                      </a:r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172.16.20.127</a:t>
                      </a:r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615870"/>
                  </a:ext>
                </a:extLst>
              </a:tr>
              <a:tr h="513518"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ENLACE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172.16.20.128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172.16.20.129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172.16.20.130</a:t>
                      </a:r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172.16.20.131</a:t>
                      </a:r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024746"/>
                  </a:ext>
                </a:extLst>
              </a:tr>
              <a:tr h="513518"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ENLACE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172.16.20.132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172.16.20.131</a:t>
                      </a:r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172.16.20.134</a:t>
                      </a:r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172.16.20.135</a:t>
                      </a:r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881118"/>
                  </a:ext>
                </a:extLst>
              </a:tr>
              <a:tr h="513518"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ENLACE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172.16.20.136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172.16.20.137</a:t>
                      </a:r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172.16.20.138</a:t>
                      </a:r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172.16.20.139</a:t>
                      </a:r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145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0093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4" name="2 Marcador de contenido">
            <a:extLst>
              <a:ext uri="{FF2B5EF4-FFF2-40B4-BE49-F238E27FC236}">
                <a16:creationId xmlns:a16="http://schemas.microsoft.com/office/drawing/2014/main" id="{D2EDBCAA-9F1B-1C21-BB2F-C93069F1CF6F}"/>
              </a:ext>
            </a:extLst>
          </p:cNvPr>
          <p:cNvSpPr>
            <a:spLocks/>
          </p:cNvSpPr>
          <p:nvPr/>
        </p:nvSpPr>
        <p:spPr bwMode="auto">
          <a:xfrm>
            <a:off x="975996" y="1316673"/>
            <a:ext cx="8501063" cy="1135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1950" indent="-361950" eaLnBrk="0" hangingPunct="0">
              <a:tabLst>
                <a:tab pos="361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361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361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361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361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Blip>
                <a:blip r:embed="rId2"/>
              </a:buBlip>
            </a:pPr>
            <a:r>
              <a:rPr lang="es-ES" altLang="es-BO" sz="2000" dirty="0"/>
              <a:t>El ISP provee el siguiente bloque de direcciones IP: 172.20.0.0/22. Utilice VLSM para asignar las direcciones a todos los componentes de la red.</a:t>
            </a:r>
          </a:p>
        </p:txBody>
      </p:sp>
      <p:sp>
        <p:nvSpPr>
          <p:cNvPr id="73737" name="Rectangle 9">
            <a:extLst>
              <a:ext uri="{FF2B5EF4-FFF2-40B4-BE49-F238E27FC236}">
                <a16:creationId xmlns:a16="http://schemas.microsoft.com/office/drawing/2014/main" id="{EA81C276-90E4-B37A-7826-41AF884EB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8409" y="507048"/>
            <a:ext cx="6192837" cy="4572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s-ES" altLang="es-BO" sz="2400" b="1" dirty="0">
                <a:solidFill>
                  <a:schemeClr val="bg1"/>
                </a:solidFill>
              </a:rPr>
              <a:t>Ejercicio 3</a:t>
            </a:r>
          </a:p>
        </p:txBody>
      </p:sp>
      <p:pic>
        <p:nvPicPr>
          <p:cNvPr id="73738" name="Picture 10">
            <a:extLst>
              <a:ext uri="{FF2B5EF4-FFF2-40B4-BE49-F238E27FC236}">
                <a16:creationId xmlns:a16="http://schemas.microsoft.com/office/drawing/2014/main" id="{21B3278B-EA0B-572E-F05E-35CE069BD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945" y="2400936"/>
            <a:ext cx="8624888" cy="417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8880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746676B-A243-453E-BB9F-B3508B35D1F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32500" lnSpcReduction="20000"/>
              </a:bodyPr>
              <a:lstStyle/>
              <a:p>
                <a:r>
                  <a:rPr lang="es-ES" altLang="es-BO" sz="3000" dirty="0">
                    <a:latin typeface="Arial" panose="020B0604020202020204" pitchFamily="34" charset="0"/>
                    <a:cs typeface="Arial" panose="020B0604020202020204" pitchFamily="34" charset="0"/>
                  </a:rPr>
                  <a:t>Para la topología, se tiene el siguiente dirección de red </a:t>
                </a:r>
                <a:r>
                  <a:rPr lang="es-ES" altLang="es-BO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172.20.0.0/22</a:t>
                </a:r>
              </a:p>
              <a:p>
                <a:pPr marL="0" indent="0">
                  <a:buNone/>
                </a:pPr>
                <a:r>
                  <a:rPr lang="es-ES" altLang="es-BO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    500 host edificio 1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ES" altLang="es-BO" sz="3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BO" altLang="es-BO" sz="30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BO" altLang="es-BO" sz="30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s-BO" altLang="es-BO" sz="30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s-ES" altLang="es-BO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-2=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altLang="es-BO" sz="3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BO" altLang="es-BO" sz="30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BO" altLang="es-BO" sz="3000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</m:sup>
                    </m:sSup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BO" altLang="es-BO" sz="3000" b="1" i="1" smtClean="0">
                        <a:latin typeface="Cambria Math" panose="02040503050406030204" pitchFamily="18" charset="0"/>
                      </a:rPr>
                      <m:t>𝟓𝟏𝟎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𝒎𝒂𝒔𝒄𝒂𝒓𝒂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𝟑𝟐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BO" altLang="es-BO" sz="3000" b="1" i="1" smtClean="0">
                        <a:latin typeface="Cambria Math" panose="02040503050406030204" pitchFamily="18" charset="0"/>
                      </a:rPr>
                      <m:t>𝟗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=/</m:t>
                    </m:r>
                    <m:r>
                      <a:rPr lang="es-BO" altLang="es-BO" sz="3000" b="1" i="1" smtClean="0">
                        <a:latin typeface="Cambria Math" panose="02040503050406030204" pitchFamily="18" charset="0"/>
                      </a:rPr>
                      <m:t>𝟐𝟑</m:t>
                    </m:r>
                  </m:oMath>
                </a14:m>
                <a:r>
                  <a:rPr lang="es-ES" altLang="es-BO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)        255.255.254,0</a:t>
                </a:r>
              </a:p>
              <a:p>
                <a:r>
                  <a:rPr lang="es-ES" altLang="es-BO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Saltos 256-254=2 </a:t>
                </a:r>
              </a:p>
              <a:p>
                <a:endParaRPr lang="es-ES" altLang="es-BO" sz="3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s-ES" altLang="es-BO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    240 host edificio 2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altLang="es-BO" sz="3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BO" altLang="es-BO" sz="30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BO" altLang="es-BO" sz="3000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s-ES" altLang="es-BO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-2=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altLang="es-BO" sz="3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BO" altLang="es-BO" sz="30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BO" altLang="es-BO" sz="3000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</m:sup>
                    </m:sSup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BO" altLang="es-BO" sz="3000" b="1" i="1" smtClean="0">
                        <a:latin typeface="Cambria Math" panose="02040503050406030204" pitchFamily="18" charset="0"/>
                      </a:rPr>
                      <m:t>𝟐𝟓𝟒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𝒎𝒂𝒔𝒄𝒂𝒓𝒂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𝟑𝟐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BO" altLang="es-BO" sz="3000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=/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𝟐𝟒</m:t>
                    </m:r>
                  </m:oMath>
                </a14:m>
                <a:r>
                  <a:rPr lang="es-ES" altLang="es-BO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)        255.255.255.0</a:t>
                </a:r>
              </a:p>
              <a:p>
                <a:r>
                  <a:rPr lang="es-ES" altLang="es-BO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saltos 256-255=1</a:t>
                </a:r>
              </a:p>
              <a:p>
                <a:endParaRPr lang="es-ES" altLang="es-BO" sz="3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s-ES" altLang="es-BO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45 host edificio 3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altLang="es-BO" sz="3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BO" altLang="es-BO" sz="30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BO" altLang="es-BO" sz="3000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s-ES" altLang="es-BO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-2=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altLang="es-BO" sz="3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BO" altLang="es-BO" sz="30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BO" altLang="es-BO" sz="30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BO" altLang="es-BO" sz="3000" b="1" i="1" smtClean="0">
                        <a:latin typeface="Cambria Math" panose="02040503050406030204" pitchFamily="18" charset="0"/>
                      </a:rPr>
                      <m:t>𝟔𝟐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𝒎𝒂𝒔𝒄𝒂𝒓𝒂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𝟑𝟐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BO" altLang="es-BO" sz="3000" b="1" i="1" smtClean="0">
                        <a:latin typeface="Cambria Math" panose="02040503050406030204" pitchFamily="18" charset="0"/>
                      </a:rPr>
                      <m:t>𝟔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=/</m:t>
                    </m:r>
                    <m:r>
                      <a:rPr lang="es-BO" altLang="es-BO" sz="3000" b="1" i="1" smtClean="0">
                        <a:latin typeface="Cambria Math" panose="02040503050406030204" pitchFamily="18" charset="0"/>
                      </a:rPr>
                      <m:t>𝟐𝟔</m:t>
                    </m:r>
                  </m:oMath>
                </a14:m>
                <a:r>
                  <a:rPr lang="es-ES" altLang="es-BO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)        255.255.255,192</a:t>
                </a:r>
              </a:p>
              <a:p>
                <a:r>
                  <a:rPr lang="es-ES" altLang="es-BO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Saltos 256-192=64</a:t>
                </a:r>
              </a:p>
              <a:p>
                <a:endParaRPr lang="es-ES" altLang="es-BO" sz="3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s-ES" altLang="es-BO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115 host edificio 4</a:t>
                </a:r>
              </a:p>
              <a:p>
                <a:r>
                  <a:rPr lang="es-ES" altLang="es-BO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altLang="es-BO" sz="3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BO" altLang="es-BO" sz="30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BO" altLang="es-BO" sz="3000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s-ES" altLang="es-BO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-2=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altLang="es-BO" sz="3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BO" altLang="es-BO" sz="30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BO" altLang="es-BO" sz="3000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sup>
                    </m:sSup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BO" altLang="es-BO" sz="3000" b="1" i="1" smtClean="0">
                        <a:latin typeface="Cambria Math" panose="02040503050406030204" pitchFamily="18" charset="0"/>
                      </a:rPr>
                      <m:t>𝟏𝟐𝟒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𝒎𝒂𝒔𝒄𝒂𝒓𝒂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𝟑𝟐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BO" altLang="es-BO" sz="3000" b="1" i="1" smtClean="0">
                        <a:latin typeface="Cambria Math" panose="02040503050406030204" pitchFamily="18" charset="0"/>
                      </a:rPr>
                      <m:t>𝟕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=/</m:t>
                    </m:r>
                    <m:r>
                      <a:rPr lang="es-BO" altLang="es-BO" sz="3000" b="1" i="1" smtClean="0">
                        <a:latin typeface="Cambria Math" panose="02040503050406030204" pitchFamily="18" charset="0"/>
                      </a:rPr>
                      <m:t>𝟐𝟓</m:t>
                    </m:r>
                  </m:oMath>
                </a14:m>
                <a:r>
                  <a:rPr lang="es-ES" altLang="es-BO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)        255.255.255.128</a:t>
                </a:r>
              </a:p>
              <a:p>
                <a:r>
                  <a:rPr lang="es-ES" altLang="es-BO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Saltos 256-128=128</a:t>
                </a:r>
              </a:p>
              <a:p>
                <a:endParaRPr lang="es-ES" altLang="es-BO" sz="3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s-ES" altLang="es-BO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3 subredes de 2 host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altLang="es-BO" sz="3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BO" altLang="es-BO" sz="30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BO" altLang="es-BO" sz="3000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s-ES" altLang="es-BO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-2=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altLang="es-BO" sz="3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BO" altLang="es-BO" sz="30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BO" altLang="es-BO" sz="3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𝒎𝒂𝒔𝒄𝒂𝒓𝒂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𝟑𝟐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=/</m:t>
                    </m:r>
                    <m:r>
                      <a:rPr lang="es-BO" altLang="es-BO" sz="3000" b="1" i="1">
                        <a:latin typeface="Cambria Math" panose="02040503050406030204" pitchFamily="18" charset="0"/>
                      </a:rPr>
                      <m:t>𝟑𝟎</m:t>
                    </m:r>
                  </m:oMath>
                </a14:m>
                <a:r>
                  <a:rPr lang="es-ES" altLang="es-BO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         255.255.255.252</a:t>
                </a:r>
              </a:p>
              <a:p>
                <a:r>
                  <a:rPr lang="es-ES" altLang="es-BO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Saltos 256-252=4</a:t>
                </a:r>
              </a:p>
              <a:p>
                <a:pPr marL="0" indent="0">
                  <a:buNone/>
                </a:pPr>
                <a:endParaRPr lang="es-BO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746676B-A243-453E-BB9F-B3508B35D1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t="-1023"/>
                </a:stretch>
              </a:blipFill>
            </p:spPr>
            <p:txBody>
              <a:bodyPr/>
              <a:lstStyle/>
              <a:p>
                <a:r>
                  <a:rPr lang="es-B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9">
            <a:extLst>
              <a:ext uri="{FF2B5EF4-FFF2-40B4-BE49-F238E27FC236}">
                <a16:creationId xmlns:a16="http://schemas.microsoft.com/office/drawing/2014/main" id="{F3DD1081-49C1-458D-B517-A127B83E8E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5250" y="714375"/>
            <a:ext cx="12096750" cy="642938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s-ES" altLang="es-BO" sz="2400" b="1" dirty="0">
                <a:solidFill>
                  <a:schemeClr val="bg1"/>
                </a:solidFill>
              </a:rPr>
              <a:t>Ejercicio 3</a:t>
            </a:r>
          </a:p>
        </p:txBody>
      </p:sp>
      <p:graphicFrame>
        <p:nvGraphicFramePr>
          <p:cNvPr id="5" name="Tabla 6">
            <a:extLst>
              <a:ext uri="{FF2B5EF4-FFF2-40B4-BE49-F238E27FC236}">
                <a16:creationId xmlns:a16="http://schemas.microsoft.com/office/drawing/2014/main" id="{C87BDE8C-7E32-44AF-BC84-589D5BCC4D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022285"/>
              </p:ext>
            </p:extLst>
          </p:nvPr>
        </p:nvGraphicFramePr>
        <p:xfrm>
          <a:off x="4986867" y="1712260"/>
          <a:ext cx="6889169" cy="4022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3733">
                  <a:extLst>
                    <a:ext uri="{9D8B030D-6E8A-4147-A177-3AD203B41FA5}">
                      <a16:colId xmlns:a16="http://schemas.microsoft.com/office/drawing/2014/main" val="4042890260"/>
                    </a:ext>
                  </a:extLst>
                </a:gridCol>
                <a:gridCol w="1211667">
                  <a:extLst>
                    <a:ext uri="{9D8B030D-6E8A-4147-A177-3AD203B41FA5}">
                      <a16:colId xmlns:a16="http://schemas.microsoft.com/office/drawing/2014/main" val="763401223"/>
                    </a:ext>
                  </a:extLst>
                </a:gridCol>
                <a:gridCol w="1220805">
                  <a:extLst>
                    <a:ext uri="{9D8B030D-6E8A-4147-A177-3AD203B41FA5}">
                      <a16:colId xmlns:a16="http://schemas.microsoft.com/office/drawing/2014/main" val="3555723393"/>
                    </a:ext>
                  </a:extLst>
                </a:gridCol>
                <a:gridCol w="1184899">
                  <a:extLst>
                    <a:ext uri="{9D8B030D-6E8A-4147-A177-3AD203B41FA5}">
                      <a16:colId xmlns:a16="http://schemas.microsoft.com/office/drawing/2014/main" val="79235606"/>
                    </a:ext>
                  </a:extLst>
                </a:gridCol>
                <a:gridCol w="1200868">
                  <a:extLst>
                    <a:ext uri="{9D8B030D-6E8A-4147-A177-3AD203B41FA5}">
                      <a16:colId xmlns:a16="http://schemas.microsoft.com/office/drawing/2014/main" val="3662495494"/>
                    </a:ext>
                  </a:extLst>
                </a:gridCol>
                <a:gridCol w="987197">
                  <a:extLst>
                    <a:ext uri="{9D8B030D-6E8A-4147-A177-3AD203B41FA5}">
                      <a16:colId xmlns:a16="http://schemas.microsoft.com/office/drawing/2014/main" val="1159683666"/>
                    </a:ext>
                  </a:extLst>
                </a:gridCol>
              </a:tblGrid>
              <a:tr h="513518">
                <a:tc>
                  <a:txBody>
                    <a:bodyPr/>
                    <a:lstStyle/>
                    <a:p>
                      <a:pPr algn="ctr"/>
                      <a:r>
                        <a:rPr lang="es-BO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PRIMERA IP ASIGNABLE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SEGUNDA IP ASIGNABLE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BROADCAST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MASCARA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021710"/>
                  </a:ext>
                </a:extLst>
              </a:tr>
              <a:tr h="513518"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 edificio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172.20.0.0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172.20.0.1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172.20.1.254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172.20.1.255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330992"/>
                  </a:ext>
                </a:extLst>
              </a:tr>
              <a:tr h="427971"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240edificio2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172.20.2.0</a:t>
                      </a:r>
                    </a:p>
                    <a:p>
                      <a:pPr algn="ctr"/>
                      <a:endParaRPr lang="es-BO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172.20.2.1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172.20.2.254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172.20.2.255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101882"/>
                  </a:ext>
                </a:extLst>
              </a:tr>
              <a:tr h="513518"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45edificio3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172.20.3.0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172.20.3.1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172.20.0.0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172.20.3.127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872451"/>
                  </a:ext>
                </a:extLst>
              </a:tr>
              <a:tr h="513518"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115edificio4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172.20.3.128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172.20.3.129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172.20.3.190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172.20.3.191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615870"/>
                  </a:ext>
                </a:extLst>
              </a:tr>
              <a:tr h="513518"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ENLACE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172.20.3.192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172.20.3.193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172.20.3.194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172.20.3.195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024746"/>
                  </a:ext>
                </a:extLst>
              </a:tr>
              <a:tr h="513518"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ENLACE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172.20.3.196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172.20.3.197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172.20.3.198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172.20.3.199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881118"/>
                  </a:ext>
                </a:extLst>
              </a:tr>
              <a:tr h="513518"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ENLACE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172.20.3.200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172.20.3.201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172.20.3.202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BO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B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172.20.3.203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BO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145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652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2 Marcador de contenido">
            <a:extLst>
              <a:ext uri="{FF2B5EF4-FFF2-40B4-BE49-F238E27FC236}">
                <a16:creationId xmlns:a16="http://schemas.microsoft.com/office/drawing/2014/main" id="{313170F7-0A66-ED26-B9FF-0197BA9AB483}"/>
              </a:ext>
            </a:extLst>
          </p:cNvPr>
          <p:cNvSpPr>
            <a:spLocks/>
          </p:cNvSpPr>
          <p:nvPr/>
        </p:nvSpPr>
        <p:spPr bwMode="auto">
          <a:xfrm>
            <a:off x="986156" y="1306514"/>
            <a:ext cx="8501063" cy="292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1950" indent="-361950" eaLnBrk="0" hangingPunct="0">
              <a:tabLst>
                <a:tab pos="361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361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361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361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361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Blip>
                <a:blip r:embed="rId2"/>
              </a:buBlip>
            </a:pPr>
            <a:r>
              <a:rPr lang="es-ES" altLang="es-BO" sz="2000" dirty="0"/>
              <a:t>El siguiente esquema de red tiene asignado el bloque de direcciones </a:t>
            </a:r>
            <a:r>
              <a:rPr lang="es-ES" altLang="es-BO" sz="2000" b="1" dirty="0"/>
              <a:t>166.4.48.0/20</a:t>
            </a:r>
            <a:r>
              <a:rPr lang="es-ES" altLang="es-BO" sz="2000" dirty="0"/>
              <a:t>. Realice el direccionamiento necesario para asignar las respectivas direcciones a todos los host de la red.</a:t>
            </a:r>
          </a:p>
        </p:txBody>
      </p:sp>
      <p:sp>
        <p:nvSpPr>
          <p:cNvPr id="75782" name="Rectangle 6">
            <a:extLst>
              <a:ext uri="{FF2B5EF4-FFF2-40B4-BE49-F238E27FC236}">
                <a16:creationId xmlns:a16="http://schemas.microsoft.com/office/drawing/2014/main" id="{61891959-F516-4FBA-04B8-AA8021CD7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569" y="496888"/>
            <a:ext cx="6192837" cy="4572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s-ES" altLang="es-BO" sz="2400" b="1" dirty="0">
                <a:solidFill>
                  <a:schemeClr val="bg1"/>
                </a:solidFill>
              </a:rPr>
              <a:t>Ejercicio 4</a:t>
            </a:r>
          </a:p>
        </p:txBody>
      </p:sp>
      <p:pic>
        <p:nvPicPr>
          <p:cNvPr id="75783" name="Picture 7">
            <a:extLst>
              <a:ext uri="{FF2B5EF4-FFF2-40B4-BE49-F238E27FC236}">
                <a16:creationId xmlns:a16="http://schemas.microsoft.com/office/drawing/2014/main" id="{0014B118-6FDD-825B-1660-82410384D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130" y="3017838"/>
            <a:ext cx="8497888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9242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27BC2A2-43D4-13AA-CF44-F7E7A4733A78}"/>
                  </a:ext>
                </a:extLst>
              </p:cNvPr>
              <p:cNvSpPr txBox="1"/>
              <p:nvPr/>
            </p:nvSpPr>
            <p:spPr>
              <a:xfrm>
                <a:off x="978059" y="474345"/>
                <a:ext cx="10951474" cy="60324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s-BO" b="1" i="0" dirty="0">
                    <a:solidFill>
                      <a:srgbClr val="374151"/>
                    </a:solidFill>
                    <a:effectLst/>
                    <a:latin typeface="Söhne"/>
                  </a:rPr>
                  <a:t>¿</a:t>
                </a:r>
                <a:r>
                  <a:rPr lang="es-BO" sz="1400" b="1" i="0" dirty="0">
                    <a:solidFill>
                      <a:srgbClr val="374151"/>
                    </a:solidFill>
                    <a:effectLst/>
                    <a:latin typeface="Söhne"/>
                  </a:rPr>
                  <a:t>Cuántos bits se prestan en una máscara de subred /27?. Explique a detalle.</a:t>
                </a:r>
                <a:endParaRPr lang="es-BO" sz="1400" b="0" i="0" dirty="0">
                  <a:solidFill>
                    <a:srgbClr val="374151"/>
                  </a:solidFill>
                  <a:effectLst/>
                  <a:latin typeface="Söhne"/>
                </a:endParaRPr>
              </a:p>
              <a:p>
                <a:pPr lvl="1" algn="l"/>
                <a:r>
                  <a:rPr lang="es-BO" sz="1400" b="0" i="0" dirty="0">
                    <a:solidFill>
                      <a:srgbClr val="374151"/>
                    </a:solidFill>
                    <a:effectLst/>
                    <a:highlight>
                      <a:srgbClr val="00FF00"/>
                    </a:highlight>
                    <a:latin typeface="Söhne"/>
                  </a:rPr>
                  <a:t>A) 3 bits</a:t>
                </a:r>
              </a:p>
              <a:p>
                <a:pPr lvl="1" algn="l"/>
                <a:r>
                  <a:rPr lang="es-BO" sz="1400" b="0" i="0" dirty="0">
                    <a:solidFill>
                      <a:srgbClr val="374151"/>
                    </a:solidFill>
                    <a:effectLst/>
                    <a:latin typeface="Söhne"/>
                  </a:rPr>
                  <a:t>B) 4 bits</a:t>
                </a:r>
              </a:p>
              <a:p>
                <a:pPr lvl="1" algn="l"/>
                <a:r>
                  <a:rPr lang="es-BO" sz="1400" b="0" i="0" dirty="0">
                    <a:solidFill>
                      <a:srgbClr val="374151"/>
                    </a:solidFill>
                    <a:effectLst/>
                    <a:latin typeface="Söhne"/>
                  </a:rPr>
                  <a:t>C) 5 bits</a:t>
                </a:r>
              </a:p>
              <a:p>
                <a:pPr lvl="1" algn="l"/>
                <a:r>
                  <a:rPr lang="es-BO" sz="1400" b="0" i="0" dirty="0">
                    <a:solidFill>
                      <a:srgbClr val="374151"/>
                    </a:solidFill>
                    <a:effectLst/>
                    <a:latin typeface="Söhne"/>
                  </a:rPr>
                  <a:t>D) 6 bits</a:t>
                </a:r>
              </a:p>
              <a:p>
                <a:pPr lvl="1" algn="l"/>
                <a:r>
                  <a:rPr lang="es-BO" sz="1400" dirty="0">
                    <a:solidFill>
                      <a:srgbClr val="374151"/>
                    </a:solidFill>
                    <a:latin typeface="Söhne"/>
                  </a:rPr>
                  <a:t>Se piden 3 bits para que su prefijo llegue a /27</a:t>
                </a:r>
                <a:endParaRPr lang="es-BO" sz="1400" b="0" i="0" dirty="0">
                  <a:solidFill>
                    <a:srgbClr val="374151"/>
                  </a:solidFill>
                  <a:effectLst/>
                  <a:latin typeface="Söhne"/>
                </a:endParaRPr>
              </a:p>
              <a:p>
                <a:pPr algn="l"/>
                <a:endParaRPr lang="es-BO" sz="1400" b="1" i="0" dirty="0">
                  <a:solidFill>
                    <a:srgbClr val="374151"/>
                  </a:solidFill>
                  <a:effectLst/>
                  <a:latin typeface="Söhne"/>
                </a:endParaRPr>
              </a:p>
              <a:p>
                <a:r>
                  <a:rPr lang="es-BO" sz="1400" b="1" i="0" dirty="0">
                    <a:solidFill>
                      <a:srgbClr val="374151"/>
                    </a:solidFill>
                    <a:effectLst/>
                    <a:latin typeface="Söhne"/>
                  </a:rPr>
                  <a:t>¿Cuál es el rango de direcciones IP en la subred 10.1.1.0/26? Explique a detalle.</a:t>
                </a:r>
                <a:endParaRPr lang="es-BO" sz="1400" b="0" i="0" dirty="0">
                  <a:solidFill>
                    <a:srgbClr val="374151"/>
                  </a:solidFill>
                  <a:effectLst/>
                  <a:latin typeface="Söhne"/>
                </a:endParaRPr>
              </a:p>
              <a:p>
                <a:pPr lvl="1" algn="l"/>
                <a:r>
                  <a:rPr lang="es-BO" sz="1400" b="0" i="0" dirty="0">
                    <a:solidFill>
                      <a:srgbClr val="374151"/>
                    </a:solidFill>
                    <a:effectLst/>
                    <a:highlight>
                      <a:srgbClr val="00FF00"/>
                    </a:highlight>
                    <a:latin typeface="Söhne"/>
                  </a:rPr>
                  <a:t>A) 10.1.1.0 a 10.1.1.63</a:t>
                </a:r>
              </a:p>
              <a:p>
                <a:pPr lvl="1" algn="l"/>
                <a:r>
                  <a:rPr lang="es-BO" sz="1400" b="0" i="0" dirty="0">
                    <a:solidFill>
                      <a:srgbClr val="374151"/>
                    </a:solidFill>
                    <a:effectLst/>
                    <a:latin typeface="Söhne"/>
                  </a:rPr>
                  <a:t>B) 10.1.1.1 a 10.1.1.62</a:t>
                </a:r>
              </a:p>
              <a:p>
                <a:pPr lvl="1" algn="l"/>
                <a:r>
                  <a:rPr lang="es-BO" sz="1400" b="0" i="0" dirty="0">
                    <a:solidFill>
                      <a:srgbClr val="374151"/>
                    </a:solidFill>
                    <a:effectLst/>
                    <a:latin typeface="Söhne"/>
                  </a:rPr>
                  <a:t>C) 10.1.1.0 a 10.1.1.64</a:t>
                </a:r>
              </a:p>
              <a:p>
                <a:pPr lvl="1" algn="l"/>
                <a:r>
                  <a:rPr lang="es-BO" sz="1400" b="0" i="0" dirty="0">
                    <a:solidFill>
                      <a:srgbClr val="374151"/>
                    </a:solidFill>
                    <a:effectLst/>
                    <a:latin typeface="Söhne"/>
                  </a:rPr>
                  <a:t>D) 10.1.1.1 a 10.1.1.63</a:t>
                </a:r>
              </a:p>
              <a:p>
                <a:pPr lvl="1"/>
                <a:r>
                  <a:rPr lang="es-BO" sz="1400" dirty="0">
                    <a:solidFill>
                      <a:srgbClr val="374151"/>
                    </a:solidFill>
                    <a:latin typeface="Söhne"/>
                  </a:rPr>
                  <a:t>Según la formula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altLang="es-BO" sz="1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BO" altLang="es-BO" sz="14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BO" altLang="es-BO" sz="1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s-BO" altLang="es-BO" sz="1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s-BO" sz="1400" b="0" i="0" dirty="0">
                    <a:solidFill>
                      <a:srgbClr val="374151"/>
                    </a:solidFill>
                    <a:effectLst/>
                    <a:latin typeface="Söhne"/>
                  </a:rPr>
                  <a:t>seria 6 ya que n numero seria 64 bits para host</a:t>
                </a:r>
              </a:p>
              <a:p>
                <a:r>
                  <a:rPr lang="es-BO" sz="1400" b="1" i="0" dirty="0">
                    <a:solidFill>
                      <a:srgbClr val="374151"/>
                    </a:solidFill>
                    <a:effectLst/>
                    <a:latin typeface="Söhne"/>
                  </a:rPr>
                  <a:t>¿Cuál es la máscara de subred en CIDR para la dirección IP 192.168.1.1/28? Explique a detalle.</a:t>
                </a:r>
                <a:endParaRPr lang="es-BO" sz="1400" b="0" i="0" dirty="0">
                  <a:solidFill>
                    <a:srgbClr val="374151"/>
                  </a:solidFill>
                  <a:effectLst/>
                  <a:latin typeface="Söhne"/>
                </a:endParaRPr>
              </a:p>
              <a:p>
                <a:pPr algn="l"/>
                <a:endParaRPr lang="es-BO" sz="1400" b="0" i="0" dirty="0">
                  <a:solidFill>
                    <a:srgbClr val="374151"/>
                  </a:solidFill>
                  <a:effectLst/>
                  <a:latin typeface="Söhne"/>
                </a:endParaRPr>
              </a:p>
              <a:p>
                <a:pPr lvl="1"/>
                <a:r>
                  <a:rPr lang="es-BO" sz="1400" b="0" i="0" dirty="0">
                    <a:solidFill>
                      <a:srgbClr val="374151"/>
                    </a:solidFill>
                    <a:effectLst/>
                    <a:latin typeface="Söhne"/>
                  </a:rPr>
                  <a:t>A) 255.255.255.224</a:t>
                </a:r>
              </a:p>
              <a:p>
                <a:pPr lvl="1"/>
                <a:r>
                  <a:rPr lang="es-BO" sz="1400" b="0" i="0" dirty="0">
                    <a:solidFill>
                      <a:srgbClr val="374151"/>
                    </a:solidFill>
                    <a:effectLst/>
                    <a:highlight>
                      <a:srgbClr val="00FF00"/>
                    </a:highlight>
                    <a:latin typeface="Söhne"/>
                  </a:rPr>
                  <a:t>B) 255.255.255.240</a:t>
                </a:r>
              </a:p>
              <a:p>
                <a:pPr lvl="1"/>
                <a:r>
                  <a:rPr lang="es-BO" sz="1400" b="0" i="0" dirty="0">
                    <a:solidFill>
                      <a:srgbClr val="374151"/>
                    </a:solidFill>
                    <a:effectLst/>
                    <a:latin typeface="Söhne"/>
                  </a:rPr>
                  <a:t>C) 255.255.255.252</a:t>
                </a:r>
              </a:p>
              <a:p>
                <a:pPr lvl="1"/>
                <a:r>
                  <a:rPr lang="es-BO" sz="1400" b="0" i="0" dirty="0">
                    <a:solidFill>
                      <a:srgbClr val="374151"/>
                    </a:solidFill>
                    <a:effectLst/>
                    <a:latin typeface="Söhne"/>
                  </a:rPr>
                  <a:t>D) 255.255.255.248</a:t>
                </a:r>
              </a:p>
              <a:p>
                <a:pPr lvl="1"/>
                <a:r>
                  <a:rPr lang="es-BO" sz="1400" dirty="0">
                    <a:solidFill>
                      <a:srgbClr val="374151"/>
                    </a:solidFill>
                    <a:latin typeface="Söhne"/>
                  </a:rPr>
                  <a:t>Por que abarca 28 bits de 32 que tiene la mascara </a:t>
                </a:r>
                <a:r>
                  <a:rPr lang="es-BO" sz="1400" dirty="0" err="1">
                    <a:solidFill>
                      <a:srgbClr val="374151"/>
                    </a:solidFill>
                    <a:latin typeface="Söhne"/>
                  </a:rPr>
                  <a:t>asi</a:t>
                </a:r>
                <a:r>
                  <a:rPr lang="es-BO" sz="1400" dirty="0">
                    <a:solidFill>
                      <a:srgbClr val="374151"/>
                    </a:solidFill>
                    <a:latin typeface="Söhne"/>
                  </a:rPr>
                  <a:t> dejando 4 bits para los host</a:t>
                </a:r>
                <a:endParaRPr lang="es-BO" sz="1400" b="0" i="0" dirty="0">
                  <a:solidFill>
                    <a:srgbClr val="374151"/>
                  </a:solidFill>
                  <a:effectLst/>
                  <a:latin typeface="Söhne"/>
                </a:endParaRPr>
              </a:p>
              <a:p>
                <a:r>
                  <a:rPr lang="es-BO" sz="1400" b="1" i="0" dirty="0">
                    <a:solidFill>
                      <a:srgbClr val="374151"/>
                    </a:solidFill>
                    <a:effectLst/>
                    <a:latin typeface="Söhne"/>
                  </a:rPr>
                  <a:t>Qué diferencia a VLSM de </a:t>
                </a:r>
                <a:r>
                  <a:rPr lang="es-BO" sz="1400" b="1" i="0" dirty="0" err="1">
                    <a:solidFill>
                      <a:srgbClr val="374151"/>
                    </a:solidFill>
                    <a:effectLst/>
                    <a:latin typeface="Söhne"/>
                  </a:rPr>
                  <a:t>subneteo</a:t>
                </a:r>
                <a:r>
                  <a:rPr lang="es-BO" sz="1400" b="1" i="0" dirty="0">
                    <a:solidFill>
                      <a:srgbClr val="374151"/>
                    </a:solidFill>
                    <a:effectLst/>
                    <a:latin typeface="Söhne"/>
                  </a:rPr>
                  <a:t> tradicional?. Explique a detalle.</a:t>
                </a:r>
                <a:endParaRPr lang="es-BO" sz="1400" b="0" i="0" dirty="0">
                  <a:solidFill>
                    <a:srgbClr val="374151"/>
                  </a:solidFill>
                  <a:effectLst/>
                  <a:latin typeface="Söhne"/>
                </a:endParaRPr>
              </a:p>
              <a:p>
                <a:pPr lvl="1"/>
                <a:r>
                  <a:rPr lang="es-BO" sz="1400" b="0" i="0" dirty="0">
                    <a:solidFill>
                      <a:srgbClr val="374151"/>
                    </a:solidFill>
                    <a:effectLst/>
                    <a:highlight>
                      <a:srgbClr val="00FF00"/>
                    </a:highlight>
                    <a:latin typeface="Söhne"/>
                  </a:rPr>
                  <a:t>A) VLSM permite utilizar máscaras de subred variables</a:t>
                </a:r>
              </a:p>
              <a:p>
                <a:pPr lvl="1"/>
                <a:r>
                  <a:rPr lang="es-BO" sz="1400" b="0" i="0" dirty="0">
                    <a:solidFill>
                      <a:srgbClr val="374151"/>
                    </a:solidFill>
                    <a:effectLst/>
                    <a:latin typeface="Söhne"/>
                  </a:rPr>
                  <a:t>B) Subneteo tradicional solo se aplica en redes grandes</a:t>
                </a:r>
              </a:p>
              <a:p>
                <a:pPr lvl="1"/>
                <a:r>
                  <a:rPr lang="es-BO" sz="1400" b="0" i="0" dirty="0">
                    <a:solidFill>
                      <a:srgbClr val="374151"/>
                    </a:solidFill>
                    <a:effectLst/>
                    <a:latin typeface="Söhne"/>
                  </a:rPr>
                  <a:t>C) VLSM solo se utiliza en redes privadas</a:t>
                </a:r>
              </a:p>
              <a:p>
                <a:pPr lvl="1"/>
                <a:r>
                  <a:rPr lang="es-BO" sz="1400" b="0" i="0" dirty="0">
                    <a:solidFill>
                      <a:srgbClr val="374151"/>
                    </a:solidFill>
                    <a:effectLst/>
                    <a:latin typeface="Söhne"/>
                  </a:rPr>
                  <a:t>D) Subneteo tradicional no permite asignar direcciones IP específicas</a:t>
                </a:r>
              </a:p>
              <a:p>
                <a:pPr lvl="1"/>
                <a:r>
                  <a:rPr lang="es-BO" sz="1400" b="0" i="0" dirty="0">
                    <a:solidFill>
                      <a:srgbClr val="374151"/>
                    </a:solidFill>
                    <a:effectLst/>
                    <a:latin typeface="Söhne"/>
                  </a:rPr>
                  <a:t>La diferencia es la capacidad para utilizar mascaras de red variable</a:t>
                </a:r>
              </a:p>
              <a:p>
                <a:pPr marL="742950" lvl="1" indent="-285750" algn="l">
                  <a:buFont typeface="+mj-lt"/>
                  <a:buAutoNum type="arabicPeriod"/>
                </a:pPr>
                <a:endParaRPr lang="es-BO" b="0" i="0" dirty="0">
                  <a:solidFill>
                    <a:srgbClr val="374151"/>
                  </a:solidFill>
                  <a:effectLst/>
                  <a:latin typeface="Söhne"/>
                </a:endParaRPr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27BC2A2-43D4-13AA-CF44-F7E7A4733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059" y="474345"/>
                <a:ext cx="10951474" cy="6032421"/>
              </a:xfrm>
              <a:prstGeom prst="rect">
                <a:avLst/>
              </a:prstGeom>
              <a:blipFill>
                <a:blip r:embed="rId2"/>
                <a:stretch>
                  <a:fillRect l="-445" t="-607"/>
                </a:stretch>
              </a:blipFill>
            </p:spPr>
            <p:txBody>
              <a:bodyPr/>
              <a:lstStyle/>
              <a:p>
                <a:r>
                  <a:rPr lang="es-B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0493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160F955-090A-B1BC-1059-F63899BEF3CA}"/>
              </a:ext>
            </a:extLst>
          </p:cNvPr>
          <p:cNvSpPr txBox="1"/>
          <p:nvPr/>
        </p:nvSpPr>
        <p:spPr>
          <a:xfrm>
            <a:off x="1232703" y="1061993"/>
            <a:ext cx="859420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BO" b="1" i="0" dirty="0">
                <a:solidFill>
                  <a:srgbClr val="374151"/>
                </a:solidFill>
                <a:effectLst/>
                <a:latin typeface="Söhne"/>
              </a:rPr>
              <a:t>¿Cuál es el propósito de la reserva de direcciones IP privadas definidas en RFC 1918?</a:t>
            </a:r>
            <a:endParaRPr lang="es-BO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BO" b="0" i="0" dirty="0">
                <a:solidFill>
                  <a:srgbClr val="374151"/>
                </a:solidFill>
                <a:effectLst/>
                <a:latin typeface="Söhne"/>
              </a:rPr>
              <a:t>A) Conservar direcciones IP públicas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BO" b="0" i="0" dirty="0">
                <a:solidFill>
                  <a:srgbClr val="374151"/>
                </a:solidFill>
                <a:effectLst/>
                <a:latin typeface="Söhne"/>
              </a:rPr>
              <a:t>B) Proporcionar seguridad a las redes privadas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BO" b="0" i="0" dirty="0">
                <a:solidFill>
                  <a:srgbClr val="374151"/>
                </a:solidFill>
                <a:effectLst/>
                <a:latin typeface="Söhne"/>
              </a:rPr>
              <a:t>C) Permitir la comunicación entre redes públicas y privadas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BO" b="0" i="0" dirty="0">
                <a:solidFill>
                  <a:srgbClr val="374151"/>
                </a:solidFill>
                <a:effectLst/>
                <a:highlight>
                  <a:srgbClr val="00FF00"/>
                </a:highlight>
                <a:latin typeface="Söhne"/>
              </a:rPr>
              <a:t>D) Permitir la creación de redes privadas sin necesidad de direcciones IP públicas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DA4A25C-B852-F05F-2250-BBC506F840B8}"/>
              </a:ext>
            </a:extLst>
          </p:cNvPr>
          <p:cNvSpPr txBox="1"/>
          <p:nvPr/>
        </p:nvSpPr>
        <p:spPr>
          <a:xfrm>
            <a:off x="1360026" y="2821113"/>
            <a:ext cx="88604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BO" b="1" i="0" dirty="0">
                <a:solidFill>
                  <a:srgbClr val="374151"/>
                </a:solidFill>
                <a:effectLst/>
                <a:latin typeface="Söhne"/>
              </a:rPr>
              <a:t>¿Qué es una dirección IP de </a:t>
            </a:r>
            <a:r>
              <a:rPr lang="es-BO" b="1" i="0" dirty="0" err="1">
                <a:solidFill>
                  <a:srgbClr val="374151"/>
                </a:solidFill>
                <a:effectLst/>
                <a:latin typeface="Söhne"/>
              </a:rPr>
              <a:t>claseful</a:t>
            </a:r>
            <a:r>
              <a:rPr lang="es-BO" b="1" i="0" dirty="0">
                <a:solidFill>
                  <a:srgbClr val="374151"/>
                </a:solidFill>
                <a:effectLst/>
                <a:latin typeface="Söhne"/>
              </a:rPr>
              <a:t>?</a:t>
            </a:r>
            <a:endParaRPr lang="es-BO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BO" b="0" i="0" dirty="0">
                <a:solidFill>
                  <a:srgbClr val="374151"/>
                </a:solidFill>
                <a:effectLst/>
                <a:latin typeface="Söhne"/>
              </a:rPr>
              <a:t>A) Una dirección IP asignada por un ISP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BO" b="0" i="0" dirty="0">
                <a:solidFill>
                  <a:srgbClr val="374151"/>
                </a:solidFill>
                <a:effectLst/>
                <a:highlight>
                  <a:srgbClr val="00FF00"/>
                </a:highlight>
                <a:latin typeface="Söhne"/>
              </a:rPr>
              <a:t>B) Una dirección IP en la que la clase de la red está determinada por los primeros bits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BO" b="0" i="0" dirty="0">
                <a:solidFill>
                  <a:srgbClr val="374151"/>
                </a:solidFill>
                <a:effectLst/>
                <a:latin typeface="Söhne"/>
              </a:rPr>
              <a:t>C) Una dirección IP de 16 bits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BO" b="0" i="0" dirty="0">
                <a:solidFill>
                  <a:srgbClr val="374151"/>
                </a:solidFill>
                <a:effectLst/>
                <a:latin typeface="Söhne"/>
              </a:rPr>
              <a:t>D) Una dirección IP utilizada solo en redes privadas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BO" dirty="0">
              <a:solidFill>
                <a:srgbClr val="374151"/>
              </a:solidFill>
              <a:latin typeface="Söhne"/>
            </a:endParaRPr>
          </a:p>
          <a:p>
            <a:pPr algn="l"/>
            <a:r>
              <a:rPr lang="es-BO" b="1" i="0" dirty="0">
                <a:solidFill>
                  <a:srgbClr val="374151"/>
                </a:solidFill>
                <a:effectLst/>
                <a:latin typeface="Söhne"/>
              </a:rPr>
              <a:t>¿Cuál de las siguientes afirmaciones sobre CIDR es correcta?</a:t>
            </a:r>
            <a:endParaRPr lang="es-BO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BO" b="0" i="0" dirty="0">
                <a:solidFill>
                  <a:srgbClr val="374151"/>
                </a:solidFill>
                <a:effectLst/>
                <a:latin typeface="Söhne"/>
              </a:rPr>
              <a:t>A) CIDR permite la asignación de direcciones IP en bloques fijos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BO" b="0" i="0" dirty="0">
                <a:solidFill>
                  <a:srgbClr val="374151"/>
                </a:solidFill>
                <a:effectLst/>
                <a:highlight>
                  <a:srgbClr val="00FF00"/>
                </a:highlight>
                <a:latin typeface="Söhne"/>
              </a:rPr>
              <a:t>B) CIDR permite una asignación de direcciones IP más flexible que el sistema de clases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BO" b="0" i="0" dirty="0">
                <a:solidFill>
                  <a:srgbClr val="374151"/>
                </a:solidFill>
                <a:effectLst/>
                <a:latin typeface="Söhne"/>
              </a:rPr>
              <a:t>C) CIDR solo se utiliza en redes pequeñas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BO" b="0" i="0" dirty="0">
                <a:solidFill>
                  <a:srgbClr val="374151"/>
                </a:solidFill>
                <a:effectLst/>
                <a:latin typeface="Söhne"/>
              </a:rPr>
              <a:t>D) CIDR solo se utiliza para direcciones IP públicas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BO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227282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F7788F8-52A6-378E-A525-477039BB5EF8}"/>
              </a:ext>
            </a:extLst>
          </p:cNvPr>
          <p:cNvSpPr txBox="1"/>
          <p:nvPr/>
        </p:nvSpPr>
        <p:spPr>
          <a:xfrm>
            <a:off x="1065384" y="758030"/>
            <a:ext cx="1032410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BO" b="1" i="0" dirty="0">
                <a:solidFill>
                  <a:srgbClr val="374151"/>
                </a:solidFill>
                <a:effectLst/>
                <a:latin typeface="Söhne"/>
              </a:rPr>
              <a:t>¿Cuál es el propósito de la máscara de subred en una dirección IP?</a:t>
            </a:r>
            <a:endParaRPr lang="es-BO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es-BO" b="0" i="0" dirty="0">
                <a:solidFill>
                  <a:srgbClr val="374151"/>
                </a:solidFill>
                <a:effectLst/>
                <a:latin typeface="Söhne"/>
              </a:rPr>
              <a:t>A) Identificar la ubicación geográfica de la IP</a:t>
            </a:r>
          </a:p>
          <a:p>
            <a:pPr algn="l"/>
            <a:r>
              <a:rPr lang="es-BO" b="0" i="0" dirty="0">
                <a:solidFill>
                  <a:srgbClr val="374151"/>
                </a:solidFill>
                <a:effectLst/>
                <a:latin typeface="Söhne"/>
              </a:rPr>
              <a:t>B) Determinar la clase de la IP</a:t>
            </a:r>
          </a:p>
          <a:p>
            <a:pPr algn="l"/>
            <a:r>
              <a:rPr lang="es-BO" b="0" i="0" dirty="0">
                <a:solidFill>
                  <a:srgbClr val="374151"/>
                </a:solidFill>
                <a:effectLst/>
                <a:highlight>
                  <a:srgbClr val="00FF00"/>
                </a:highlight>
                <a:latin typeface="Söhne"/>
              </a:rPr>
              <a:t>C) Especificar cuántos bits se utilizan para la red y cuántos para los hosts</a:t>
            </a:r>
          </a:p>
          <a:p>
            <a:pPr algn="l"/>
            <a:r>
              <a:rPr lang="es-BO" b="0" i="0" dirty="0">
                <a:solidFill>
                  <a:srgbClr val="374151"/>
                </a:solidFill>
                <a:effectLst/>
                <a:latin typeface="Söhne"/>
              </a:rPr>
              <a:t>D) Definir la dirección IP del </a:t>
            </a:r>
            <a:r>
              <a:rPr lang="es-BO" b="0" i="0" dirty="0" err="1">
                <a:solidFill>
                  <a:srgbClr val="374151"/>
                </a:solidFill>
                <a:effectLst/>
                <a:latin typeface="Söhne"/>
              </a:rPr>
              <a:t>router</a:t>
            </a:r>
            <a:r>
              <a:rPr lang="es-BO" b="0" i="0" dirty="0">
                <a:solidFill>
                  <a:srgbClr val="374151"/>
                </a:solidFill>
                <a:effectLst/>
                <a:latin typeface="Söhne"/>
              </a:rPr>
              <a:t> predeterminado</a:t>
            </a:r>
          </a:p>
          <a:p>
            <a:pPr algn="l"/>
            <a:endParaRPr lang="es-BO" b="1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es-BO" b="1" i="0" dirty="0">
                <a:solidFill>
                  <a:srgbClr val="374151"/>
                </a:solidFill>
                <a:effectLst/>
                <a:latin typeface="Söhne"/>
              </a:rPr>
              <a:t>¿Cuál de las siguientes afirmaciones sobre VLSM es falsa?. Seleccione todas las que sean</a:t>
            </a:r>
          </a:p>
          <a:p>
            <a:pPr algn="l"/>
            <a:r>
              <a:rPr lang="es-BO" b="0" i="0" dirty="0">
                <a:solidFill>
                  <a:srgbClr val="374151"/>
                </a:solidFill>
                <a:effectLst/>
                <a:latin typeface="Söhne"/>
              </a:rPr>
              <a:t>A) VLSM permite dividir una red en subredes de diferentes tamaños.</a:t>
            </a:r>
          </a:p>
          <a:p>
            <a:pPr algn="l"/>
            <a:r>
              <a:rPr lang="es-BO" b="0" i="0" dirty="0">
                <a:solidFill>
                  <a:srgbClr val="374151"/>
                </a:solidFill>
                <a:effectLst/>
                <a:highlight>
                  <a:srgbClr val="00FF00"/>
                </a:highlight>
                <a:latin typeface="Söhne"/>
              </a:rPr>
              <a:t>B) VLSM se aplica solamente en redes de clase B y clase C.</a:t>
            </a:r>
          </a:p>
          <a:p>
            <a:pPr algn="l"/>
            <a:r>
              <a:rPr lang="es-BO" b="0" i="0" dirty="0">
                <a:solidFill>
                  <a:srgbClr val="374151"/>
                </a:solidFill>
                <a:effectLst/>
                <a:latin typeface="Söhne"/>
              </a:rPr>
              <a:t>C) VLSM ayuda a utilizar las direcciones IP de manera más eficiente.</a:t>
            </a:r>
          </a:p>
          <a:p>
            <a:pPr algn="l"/>
            <a:r>
              <a:rPr lang="es-BO" b="0" i="0" dirty="0">
                <a:solidFill>
                  <a:srgbClr val="374151"/>
                </a:solidFill>
                <a:effectLst/>
                <a:latin typeface="Söhne"/>
              </a:rPr>
              <a:t>D) VLSM puede resultar en una tabla de enrutamiento más precisa y menos redundante.</a:t>
            </a:r>
          </a:p>
          <a:p>
            <a:pPr algn="l"/>
            <a:endParaRPr lang="es-BO" dirty="0">
              <a:solidFill>
                <a:srgbClr val="374151"/>
              </a:solidFill>
              <a:latin typeface="Söhne"/>
            </a:endParaRPr>
          </a:p>
          <a:p>
            <a:pPr algn="l"/>
            <a:r>
              <a:rPr lang="es-BO" b="1" i="0" dirty="0">
                <a:solidFill>
                  <a:srgbClr val="374151"/>
                </a:solidFill>
                <a:effectLst/>
                <a:latin typeface="Söhne"/>
              </a:rPr>
              <a:t>¿Cuál de las siguientes opciones es una declaración incorrecta sobre CIDR (</a:t>
            </a:r>
            <a:r>
              <a:rPr lang="es-BO" b="1" i="0" dirty="0" err="1">
                <a:solidFill>
                  <a:srgbClr val="374151"/>
                </a:solidFill>
                <a:effectLst/>
                <a:latin typeface="Söhne"/>
              </a:rPr>
              <a:t>Classless</a:t>
            </a:r>
            <a:r>
              <a:rPr lang="es-BO" b="1" i="0" dirty="0">
                <a:solidFill>
                  <a:srgbClr val="374151"/>
                </a:solidFill>
                <a:effectLst/>
                <a:latin typeface="Söhne"/>
              </a:rPr>
              <a:t> Inter-</a:t>
            </a:r>
            <a:r>
              <a:rPr lang="es-BO" b="1" i="0" dirty="0" err="1">
                <a:solidFill>
                  <a:srgbClr val="374151"/>
                </a:solidFill>
                <a:effectLst/>
                <a:latin typeface="Söhne"/>
              </a:rPr>
              <a:t>Domain</a:t>
            </a:r>
            <a:r>
              <a:rPr lang="es-BO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s-BO" b="1" i="0" dirty="0" err="1">
                <a:solidFill>
                  <a:srgbClr val="374151"/>
                </a:solidFill>
                <a:effectLst/>
                <a:latin typeface="Söhne"/>
              </a:rPr>
              <a:t>Routing</a:t>
            </a:r>
            <a:r>
              <a:rPr lang="es-BO" b="1" i="0" dirty="0">
                <a:solidFill>
                  <a:srgbClr val="374151"/>
                </a:solidFill>
                <a:effectLst/>
                <a:latin typeface="Söhne"/>
              </a:rPr>
              <a:t>)?</a:t>
            </a:r>
          </a:p>
          <a:p>
            <a:pPr algn="l"/>
            <a:r>
              <a:rPr lang="es-BO" b="0" i="0" dirty="0">
                <a:solidFill>
                  <a:srgbClr val="374151"/>
                </a:solidFill>
                <a:effectLst/>
                <a:latin typeface="Söhne"/>
              </a:rPr>
              <a:t>A) CIDR permite una asignación más eficiente de direcciones IP al eliminar las restricciones de las clases tradicionales.</a:t>
            </a:r>
          </a:p>
          <a:p>
            <a:pPr algn="l"/>
            <a:r>
              <a:rPr lang="es-BO" b="0" i="0" dirty="0">
                <a:solidFill>
                  <a:srgbClr val="374151"/>
                </a:solidFill>
                <a:effectLst/>
                <a:latin typeface="Söhne"/>
              </a:rPr>
              <a:t>B) La notación CIDR incluye la dirección IP seguida de una barra y el número de bits de red.</a:t>
            </a:r>
          </a:p>
          <a:p>
            <a:pPr algn="l"/>
            <a:r>
              <a:rPr lang="es-BO" b="0" i="0" dirty="0">
                <a:solidFill>
                  <a:srgbClr val="374151"/>
                </a:solidFill>
                <a:effectLst/>
                <a:latin typeface="Söhne"/>
              </a:rPr>
              <a:t>C) CIDR es esencial para la agregación de rutas en el enrutamiento de Internet.</a:t>
            </a:r>
          </a:p>
          <a:p>
            <a:pPr algn="l"/>
            <a:r>
              <a:rPr lang="es-BO" b="0" i="0" dirty="0">
                <a:solidFill>
                  <a:srgbClr val="374151"/>
                </a:solidFill>
                <a:effectLst/>
                <a:highlight>
                  <a:srgbClr val="00FF00"/>
                </a:highlight>
                <a:latin typeface="Söhne"/>
              </a:rPr>
              <a:t>D) CIDR utiliza máscaras de subred fijas para dividir las redes en subredes más pequeñas.</a:t>
            </a:r>
          </a:p>
          <a:p>
            <a:pPr algn="l"/>
            <a:endParaRPr lang="es-BO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s-BO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5284366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1871</TotalTime>
  <Words>1542</Words>
  <Application>Microsoft Office PowerPoint</Application>
  <PresentationFormat>Panorámica</PresentationFormat>
  <Paragraphs>411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3" baseType="lpstr">
      <vt:lpstr>Arial</vt:lpstr>
      <vt:lpstr>Arial Black</vt:lpstr>
      <vt:lpstr>Calibri</vt:lpstr>
      <vt:lpstr>Calibri Light</vt:lpstr>
      <vt:lpstr>Cambria Math</vt:lpstr>
      <vt:lpstr>Söhne</vt:lpstr>
      <vt:lpstr>Tahoma</vt:lpstr>
      <vt:lpstr>Wingdings</vt:lpstr>
      <vt:lpstr>Tema de Office</vt:lpstr>
      <vt:lpstr>Ejercicios:  Práctica de potencias de 2</vt:lpstr>
      <vt:lpstr>Ejercicio: Subredes </vt:lpstr>
      <vt:lpstr>Ejercicios: Agregación</vt:lpstr>
      <vt:lpstr>Ejercicios: Agregación        Agregue/resuma los siguientes bloques lo más possible        decimal                decimal                                   binario   10.1.1.0/24          255.255.255,0            00001010.00000001,00000001.00000000                     10.1.2.0/24          255.255.255,0            00001010.00000001,00000010.00000000  10.1.3.0/24          255.255.255,0            00001010.00000001,00000011.00000000  10.1.4.0/24          255.255.255.0            00001010.00000001,00000100.00000000   nos quedria 10,1,0,0/22 con una mascara  255.255.252,0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Ejercicio 3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Ejercicios:  Práctica de potencias de 2</dc:title>
  <dc:creator>Miguel Ángel  Vilchez Kempff</dc:creator>
  <cp:lastModifiedBy>rositarmv89@gmail.com</cp:lastModifiedBy>
  <cp:revision>38</cp:revision>
  <dcterms:created xsi:type="dcterms:W3CDTF">2023-10-19T00:32:33Z</dcterms:created>
  <dcterms:modified xsi:type="dcterms:W3CDTF">2023-10-23T04:14:29Z</dcterms:modified>
</cp:coreProperties>
</file>