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73152" cy="502920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CAMPAÑAS PROMOCIONALES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0C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DISMAC 2026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0C4DE"/>
                </a:solidFill>
              </a:rPr>
              <a:t>Guía Completa de Promociones y Dinámicas Activas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315468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1546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SAMSUNG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66160" y="315468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31546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HISENSE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60720" y="315468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1546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STARLINK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681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C4DE"/>
                </a:solidFill>
              </a:rPr>
              <a:t>Tienda Isabel 2  |  Red Dismac  |  Vigencia: Febrero – Junio 2026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CONTENIDO DE LA PRESENTACIÓN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02920" cy="65836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0515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Samsung – Hinchas Incondicionales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33502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Sorteo de 406 premios + 7 viajes dobles a México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773936"/>
            <a:ext cx="841248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773936"/>
            <a:ext cx="502920" cy="65836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7393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181965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Samsung – Miracle Pack (Galaxy S26)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10312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Bandeo Galaxy A07 + Cover al comprar S26 Series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542032"/>
            <a:ext cx="841248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542032"/>
            <a:ext cx="502920" cy="65836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54203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58775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Samsung – Back To School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87121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Cashback en efectivo comprando Tablets Samsung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310128"/>
            <a:ext cx="841248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310128"/>
            <a:ext cx="502920" cy="65836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31012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335584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Hisense – Copa del Mundo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63931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2 paquetes dobles para el partido Uruguay-España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078224"/>
            <a:ext cx="841248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078224"/>
            <a:ext cx="502920" cy="65836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07822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0120" y="412394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Starlink – Kits de Conectividad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440740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Mini y Estándar: precios, planes y comparativa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E0A"/>
          </a:solidFill>
          <a:ln w="12700">
            <a:solidFill>
              <a:srgbClr val="0A2E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9F0AE"/>
                </a:solidFill>
              </a:rPr>
              <a:t>SAMSUNG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HINCHAS INCONDICIONALES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196596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1887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C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+400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74320" y="17830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Premios en sorteo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41448" y="1143000"/>
            <a:ext cx="196596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41448" y="11887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C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441448" y="17830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Viajes dobles a México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08576" y="1143000"/>
            <a:ext cx="196596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08576" y="11887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C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608576" y="17830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Sorteos programados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75704" y="1143000"/>
            <a:ext cx="196596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75704" y="11887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C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775704" y="17830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Categorías de producto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9F0AE"/>
                </a:solidFill>
              </a:rPr>
              <a:t>¿CÓMO PARTICIPAR?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87552" y="2880360"/>
            <a:ext cx="502920" cy="50292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74320" y="3429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Compra tu Samsung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40280" y="3127248"/>
            <a:ext cx="182880" cy="0"/>
          </a:xfrm>
          <a:prstGeom prst="line">
            <a:avLst/>
          </a:prstGeom>
          <a:noFill/>
          <a:ln w="25400">
            <a:solidFill>
              <a:srgbClr val="00C85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54680" y="2880360"/>
            <a:ext cx="502920" cy="50292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5468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441448" y="3429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Registra tus datos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07408" y="3127248"/>
            <a:ext cx="182880" cy="0"/>
          </a:xfrm>
          <a:prstGeom prst="line">
            <a:avLst/>
          </a:prstGeom>
          <a:noFill/>
          <a:ln w="25400">
            <a:solidFill>
              <a:srgbClr val="00C85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21808" y="2880360"/>
            <a:ext cx="502920" cy="50292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21808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08576" y="3429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Obtén cupones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574536" y="3127248"/>
            <a:ext cx="182880" cy="0"/>
          </a:xfrm>
          <a:prstGeom prst="line">
            <a:avLst/>
          </a:prstGeom>
          <a:noFill/>
          <a:ln w="25400">
            <a:solidFill>
              <a:srgbClr val="00C85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88936" y="2880360"/>
            <a:ext cx="502920" cy="50292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88936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75704" y="3429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Espera el sorteo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4069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9F0AE"/>
                </a:solidFill>
              </a:rPr>
              <a:t>CATEGORÍAS PARTICIPANTES: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4407408"/>
            <a:ext cx="2743200" cy="25603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4074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 Dispositivos Móviles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0" y="4407408"/>
            <a:ext cx="2743200" cy="25603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46120" y="44074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 Accesorios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26480" y="4407408"/>
            <a:ext cx="2743200" cy="25603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72200" y="44074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 Televisores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4727448"/>
            <a:ext cx="2743200" cy="25603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7274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 Monitores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200400" y="4727448"/>
            <a:ext cx="2743200" cy="25603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46120" y="47274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 Refrigeradores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26480" y="4727448"/>
            <a:ext cx="2743200" cy="25603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72200" y="47274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 Lavadoras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74320" y="487375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0C4DE"/>
                </a:solidFill>
              </a:rPr>
              <a:t>www.samsung.com.bo/HinchasIncondicionales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9F0AE"/>
                </a:solidFill>
              </a:rPr>
              <a:t>HINCHAS INCONDICIONALES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CALENDARIO DE SORTEOS Y PREMIOS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011680" cy="384048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2011680" cy="685800"/>
          </a:xfrm>
          <a:prstGeom prst="rect">
            <a:avLst/>
          </a:prstGeom>
          <a:solidFill>
            <a:srgbClr val="003820"/>
          </a:solidFill>
          <a:ln w="12700">
            <a:solidFill>
              <a:srgbClr val="0038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241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1° SORTEO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" y="1325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10 Mar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73736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373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Repechaje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2084832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✈ 2 Viajes dobles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" y="2432304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👕 100× Camisetas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23160" y="1005840"/>
            <a:ext cx="2011680" cy="384048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23160" y="1005840"/>
            <a:ext cx="2011680" cy="685800"/>
          </a:xfrm>
          <a:prstGeom prst="rect">
            <a:avLst/>
          </a:prstGeom>
          <a:solidFill>
            <a:srgbClr val="003820"/>
          </a:solidFill>
          <a:ln w="12700">
            <a:solidFill>
              <a:srgbClr val="0038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23160" y="10241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2° SORTEO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23160" y="1325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14 Abr 2026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0" y="173736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17373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Octavos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14600" y="2084832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✈ 2 Viajes dobles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14600" y="2432304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📱 20× Galaxy A07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14600" y="2779776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📺 5× TV Q7 65"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14600" y="312724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🎧 5× ECO Buds 3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14600" y="347472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⌚ 5× ECO Fit3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514600" y="3822192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⚽ 14× Balones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17720" y="1005840"/>
            <a:ext cx="2011680" cy="384048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1005840"/>
            <a:ext cx="2011680" cy="685800"/>
          </a:xfrm>
          <a:prstGeom prst="rect">
            <a:avLst/>
          </a:prstGeom>
          <a:solidFill>
            <a:srgbClr val="003820"/>
          </a:solidFill>
          <a:ln w="12700">
            <a:solidFill>
              <a:srgbClr val="0038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10241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3° SORTEO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17720" y="1325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19 May 2026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37760" y="173736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17373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Octavos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09160" y="2084832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✈ 2 Viajes dobles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09160" y="2432304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📱 20× Galaxy A07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09160" y="2779776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📺 5× TV Q7 65"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09160" y="312724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🎧 5× ECO Buds 3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09160" y="347472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⌚ 7× ECO Fit3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09160" y="3822192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👕 50× Camisetas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09160" y="4169664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⚽ 12× Balones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812280" y="1005840"/>
            <a:ext cx="2011680" cy="384048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812280" y="1005840"/>
            <a:ext cx="2011680" cy="685800"/>
          </a:xfrm>
          <a:prstGeom prst="rect">
            <a:avLst/>
          </a:prstGeom>
          <a:solidFill>
            <a:srgbClr val="003820"/>
          </a:solidFill>
          <a:ln w="12700">
            <a:solidFill>
              <a:srgbClr val="0038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12280" y="10241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4° SORTEO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812280" y="1325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15 Jun 2026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132320" y="173736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32320" y="17373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Octavos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903720" y="2084832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✈ 1 Viajes dobles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903720" y="2432304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📱 23× Galaxy A07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903720" y="2779776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📺 10× TV Q7 65"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903720" y="312724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🎧 10× ECO Buds 3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903720" y="347472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⌚ 8× ECO Fit3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903720" y="3822192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👕 50× Camisetas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28600" y="4754880"/>
            <a:ext cx="8686800" cy="274320"/>
          </a:xfrm>
          <a:prstGeom prst="rect">
            <a:avLst/>
          </a:prstGeom>
          <a:solidFill>
            <a:srgbClr val="003820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28600" y="47548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53"/>
                </a:solidFill>
              </a:rPr>
              <a:t>TOTAL: 406 premios  |  7 viajes dobles  |  63 Galaxy A07  |  20 TV QLED  |  250 Camisetas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9F0AE"/>
                </a:solidFill>
              </a:rPr>
              <a:t>HINCHAS INCONDICIONALES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TÉRMINOS Y CONDICIONES CLAVE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749808"/>
          </a:xfrm>
          <a:prstGeom prst="rect">
            <a:avLst/>
          </a:prstGeom>
          <a:solidFill>
            <a:srgbClr val="00695C">
              <a:alpha val="20000"/>
            </a:srgbClr>
          </a:solidFill>
          <a:ln w="12700">
            <a:solidFill>
              <a:srgbClr val="0069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33856"/>
            <a:ext cx="457200" cy="457200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33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00584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Ser mayor de 18 años para participar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901952"/>
            <a:ext cx="4114800" cy="749808"/>
          </a:xfrm>
          <a:prstGeom prst="rect">
            <a:avLst/>
          </a:prstGeom>
          <a:solidFill>
            <a:srgbClr val="00695C">
              <a:alpha val="20000"/>
            </a:srgbClr>
          </a:solidFill>
          <a:ln w="12700">
            <a:solidFill>
              <a:srgbClr val="0069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029968"/>
            <a:ext cx="457200" cy="457200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1901952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Todos los paquetes de viaje son con destino a México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798064"/>
            <a:ext cx="4114800" cy="749808"/>
          </a:xfrm>
          <a:prstGeom prst="rect">
            <a:avLst/>
          </a:prstGeom>
          <a:solidFill>
            <a:srgbClr val="00695C">
              <a:alpha val="20000"/>
            </a:srgbClr>
          </a:solidFill>
          <a:ln w="12700">
            <a:solidFill>
              <a:srgbClr val="0069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926080"/>
            <a:ext cx="457200" cy="457200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2798064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Válido para todos los canales: Formal y Open Market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694176"/>
            <a:ext cx="4114800" cy="749808"/>
          </a:xfrm>
          <a:prstGeom prst="rect">
            <a:avLst/>
          </a:prstGeom>
          <a:solidFill>
            <a:srgbClr val="B71C1C">
              <a:alpha val="20000"/>
            </a:srgbClr>
          </a:solidFill>
          <a:ln w="12700">
            <a:solidFill>
              <a:srgbClr val="B71C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822192"/>
            <a:ext cx="457200" cy="457200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✗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3694176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NO válido para ventas corporativas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1005840"/>
            <a:ext cx="4114800" cy="749808"/>
          </a:xfrm>
          <a:prstGeom prst="rect">
            <a:avLst/>
          </a:prstGeom>
          <a:solidFill>
            <a:srgbClr val="B71C1C">
              <a:alpha val="20000"/>
            </a:srgbClr>
          </a:solidFill>
          <a:ln w="12700">
            <a:solidFill>
              <a:srgbClr val="B71C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133856"/>
            <a:ext cx="457200" cy="457200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133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✗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03520" y="100584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NO pueden participar vendedores ni dueños de tienda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1901952"/>
            <a:ext cx="4114800" cy="749808"/>
          </a:xfrm>
          <a:prstGeom prst="rect">
            <a:avLst/>
          </a:prstGeom>
          <a:solidFill>
            <a:srgbClr val="E65100">
              <a:alpha val="20000"/>
            </a:srgbClr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029968"/>
            <a:ext cx="457200" cy="45720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!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03520" y="1901952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El recibo debe tener sello de tienda o ser membretado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2798064"/>
            <a:ext cx="4114800" cy="749808"/>
          </a:xfrm>
          <a:prstGeom prst="rect">
            <a:avLst/>
          </a:prstGeom>
          <a:solidFill>
            <a:srgbClr val="E65100">
              <a:alpha val="20000"/>
            </a:srgbClr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926080"/>
            <a:ext cx="457200" cy="45720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!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03520" y="2798064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El ganador de viaje debe tener pasaporte válido por 6 meses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3694176"/>
            <a:ext cx="4114800" cy="749808"/>
          </a:xfrm>
          <a:prstGeom prst="rect">
            <a:avLst/>
          </a:prstGeom>
          <a:solidFill>
            <a:srgbClr val="E65100">
              <a:alpha val="20000"/>
            </a:srgbClr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3822192"/>
            <a:ext cx="457200" cy="45720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!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03520" y="3694176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El cliente DEBE guardar el TAG del producto para reclamar el premio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C4DE"/>
                </a:solidFill>
              </a:rPr>
              <a:t>Vigencia: 9 de Febrero al 13 de Junio de 2026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39DDB"/>
                </a:solidFill>
              </a:rPr>
              <a:t>SAMSUNG  |  2 Mar – 31 May 2026  |  NACIONAL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MIRACLE PACK – Galaxy S26 Series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869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E93D8"/>
                </a:solidFill>
              </a:rPr>
              <a:t>Galaxy AI ✦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2743200" cy="2286000"/>
          </a:xfrm>
          <a:prstGeom prst="rect">
            <a:avLst/>
          </a:prstGeom>
          <a:solidFill>
            <a:srgbClr val="4A148C">
              <a:alpha val="80000"/>
            </a:srgbClr>
          </a:solidFill>
          <a:ln w="12700">
            <a:solidFill>
              <a:srgbClr val="7C4D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25880"/>
            <a:ext cx="2743200" cy="50292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25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S26 Ultra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E93D8"/>
                </a:solidFill>
              </a:rPr>
              <a:t>Lleva de regalo: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1945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Galaxy A07 (4GB+128GB) + Cover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2194560" cy="45720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926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INCLUIDO AL COMPRAR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325880"/>
            <a:ext cx="2743200" cy="2286000"/>
          </a:xfrm>
          <a:prstGeom prst="rect">
            <a:avLst/>
          </a:prstGeom>
          <a:solidFill>
            <a:srgbClr val="311B92">
              <a:alpha val="80000"/>
            </a:srgbClr>
          </a:solidFill>
          <a:ln w="12700">
            <a:solidFill>
              <a:srgbClr val="7C4D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325880"/>
            <a:ext cx="2743200" cy="502920"/>
          </a:xfrm>
          <a:prstGeom prst="rect">
            <a:avLst/>
          </a:prstGeom>
          <a:solidFill>
            <a:srgbClr val="311B92"/>
          </a:solidFill>
          <a:ln w="12700">
            <a:solidFill>
              <a:srgbClr val="311B9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325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S26+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37560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E93D8"/>
                </a:solidFill>
              </a:rPr>
              <a:t>Lleva de regalo: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91840" y="21945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Galaxy A07 (4GB+64GB) + Cover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74720" y="2926080"/>
            <a:ext cx="2194560" cy="45720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2926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INCLUIDO AL COMPRAR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1325880"/>
            <a:ext cx="2743200" cy="2286000"/>
          </a:xfrm>
          <a:prstGeom prst="rect">
            <a:avLst/>
          </a:prstGeom>
          <a:solidFill>
            <a:srgbClr val="1A237E">
              <a:alpha val="80000"/>
            </a:srgbClr>
          </a:solidFill>
          <a:ln w="12700">
            <a:solidFill>
              <a:srgbClr val="7C4D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325880"/>
            <a:ext cx="2743200" cy="5029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1325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S26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63640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E93D8"/>
                </a:solidFill>
              </a:rPr>
              <a:t>Lleva de regalo: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0" y="21945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Galaxy A07 (4GB+64GB) + Cover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0" y="2926080"/>
            <a:ext cx="2194560" cy="45720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2926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INCLUIDO AL COMPRAR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749040"/>
            <a:ext cx="8595360" cy="246888"/>
          </a:xfrm>
          <a:prstGeom prst="rect">
            <a:avLst/>
          </a:prstGeom>
          <a:solidFill>
            <a:srgbClr val="111133"/>
          </a:solidFill>
          <a:ln w="12700">
            <a:solidFill>
              <a:srgbClr val="1E1E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749040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✔  Compatible con promo Hinchas Incondicionales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023360"/>
            <a:ext cx="8595360" cy="246888"/>
          </a:xfrm>
          <a:prstGeom prst="rect">
            <a:avLst/>
          </a:prstGeom>
          <a:solidFill>
            <a:srgbClr val="111133"/>
          </a:solidFill>
          <a:ln w="12700">
            <a:solidFill>
              <a:srgbClr val="1E1E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23360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✔  Habilitado para tiendas formales y DISMAC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297680"/>
            <a:ext cx="8595360" cy="246888"/>
          </a:xfrm>
          <a:prstGeom prst="rect">
            <a:avLst/>
          </a:prstGeom>
          <a:solidFill>
            <a:srgbClr val="111133"/>
          </a:solidFill>
          <a:ln w="12700">
            <a:solidFill>
              <a:srgbClr val="1E1E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297680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9A9A"/>
                </a:solidFill>
              </a:rPr>
              <a:t>✗   NO compatible para ventas corporativas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572000"/>
            <a:ext cx="8595360" cy="246888"/>
          </a:xfrm>
          <a:prstGeom prst="rect">
            <a:avLst/>
          </a:prstGeom>
          <a:solidFill>
            <a:srgbClr val="111133"/>
          </a:solidFill>
          <a:ln w="12700">
            <a:solidFill>
              <a:srgbClr val="1E1E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72000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📋  Cargar evidencias en Sistema Impala → módulo Bandeo → campaña 'Miracle Pack'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2B1FF"/>
                </a:solidFill>
              </a:rPr>
              <a:t>SAMSUNG  |  BLUE DAYS  |  HASTA 10 DE MARZO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 TO SCHOOL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2B1FF"/>
                </a:solidFill>
              </a:rPr>
              <a:t>Compra tu Tablet y recibe CASHBACK en efectivo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0" y="365760"/>
            <a:ext cx="2286000" cy="1005840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0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1628"/>
                </a:solidFill>
              </a:rPr>
              <a:t>Hasta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0" y="6217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Bs 800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83680" y="1005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Cashback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371600"/>
            <a:ext cx="8595360" cy="365760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371600"/>
            <a:ext cx="5669280" cy="3657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TABLET SAMSUNG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0" y="1371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CASHBACK (Bs)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1755648"/>
            <a:ext cx="8595360" cy="32004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7556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Galaxy Tab S10 Ultra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1792224"/>
            <a:ext cx="2743200" cy="246888"/>
          </a:xfrm>
          <a:prstGeom prst="rect">
            <a:avLst/>
          </a:prstGeom>
          <a:solidFill>
            <a:srgbClr val="00B0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792224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Bs 800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093976"/>
            <a:ext cx="8595360" cy="320040"/>
          </a:xfrm>
          <a:prstGeom prst="rect">
            <a:avLst/>
          </a:prstGeom>
          <a:solidFill>
            <a:srgbClr val="0919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09397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Galaxy Tab S10+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0" y="2130552"/>
            <a:ext cx="2743200" cy="246888"/>
          </a:xfrm>
          <a:prstGeom prst="rect">
            <a:avLst/>
          </a:prstGeom>
          <a:solidFill>
            <a:srgbClr val="00B0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213055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Bs 800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432304"/>
            <a:ext cx="8595360" cy="32004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43230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Galaxy Tab S10 FE+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0" y="2468880"/>
            <a:ext cx="2743200" cy="246888"/>
          </a:xfrm>
          <a:prstGeom prst="rect">
            <a:avLst/>
          </a:prstGeom>
          <a:solidFill>
            <a:srgbClr val="0288D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246888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Bs 500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2770632"/>
            <a:ext cx="8595360" cy="320040"/>
          </a:xfrm>
          <a:prstGeom prst="rect">
            <a:avLst/>
          </a:prstGeom>
          <a:solidFill>
            <a:srgbClr val="0919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7706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Galaxy Tab S10 FE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0" y="2807208"/>
            <a:ext cx="2743200" cy="246888"/>
          </a:xfrm>
          <a:prstGeom prst="rect">
            <a:avLst/>
          </a:prstGeom>
          <a:solidFill>
            <a:srgbClr val="0288D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280720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Bs 500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108960"/>
            <a:ext cx="8595360" cy="32004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108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Galaxy Tab S6 Lite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43600" y="3145536"/>
            <a:ext cx="2743200" cy="246888"/>
          </a:xfrm>
          <a:prstGeom prst="rect">
            <a:avLst/>
          </a:prstGeom>
          <a:solidFill>
            <a:srgbClr val="01579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3145536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Bs 300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3447288"/>
            <a:ext cx="8595360" cy="320040"/>
          </a:xfrm>
          <a:prstGeom prst="rect">
            <a:avLst/>
          </a:prstGeom>
          <a:solidFill>
            <a:srgbClr val="0919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4472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Galaxy Tab A11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943600" y="3483864"/>
            <a:ext cx="2743200" cy="246888"/>
          </a:xfrm>
          <a:prstGeom prst="rect">
            <a:avLst/>
          </a:prstGeom>
          <a:solidFill>
            <a:srgbClr val="01579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3483864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Bs 200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3785616"/>
            <a:ext cx="8595360" cy="32004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78561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Galaxy Tab A9+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943600" y="3822192"/>
            <a:ext cx="2743200" cy="246888"/>
          </a:xfrm>
          <a:prstGeom prst="rect">
            <a:avLst/>
          </a:prstGeom>
          <a:solidFill>
            <a:srgbClr val="01579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0" y="382219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Bs 200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4123944"/>
            <a:ext cx="8595360" cy="320040"/>
          </a:xfrm>
          <a:prstGeom prst="rect">
            <a:avLst/>
          </a:prstGeom>
          <a:solidFill>
            <a:srgbClr val="0919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12394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Galaxy Tab A9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943600" y="4160520"/>
            <a:ext cx="2743200" cy="246888"/>
          </a:xfrm>
          <a:prstGeom prst="rect">
            <a:avLst/>
          </a:prstGeom>
          <a:solidFill>
            <a:srgbClr val="01579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0" y="416052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Bs 200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2B1FF"/>
                </a:solidFill>
              </a:rPr>
              <a:t>Sin sorteos ni concursos  |  Entrega inmediata  |  Garantía válida en Bolivia  |  www.samsung.com.bo/bts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F9A9A"/>
                </a:solidFill>
              </a:rPr>
              <a:t>HISENSE &amp; TOSHIBA  |  Sorteo: 2 de Junio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CAMPAÑA COPA DEL MUNDO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F9A9A"/>
                </a:solidFill>
              </a:rPr>
              <a:t>¡Vive la Copa en México!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8595360" cy="1280160"/>
          </a:xfrm>
          <a:prstGeom prst="rect">
            <a:avLst/>
          </a:prstGeom>
          <a:solidFill>
            <a:srgbClr val="3B0000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3258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3935"/>
                </a:solidFill>
              </a:rPr>
              <a:t>🏆  PREMIO PRINCIPAL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 Paquetes Dobles – Partido Uruguay vs España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F9A9A"/>
                </a:solidFill>
              </a:rPr>
              <a:t>Ciudad de Guadalajara, México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9A9A"/>
                </a:solidFill>
              </a:rPr>
              <a:t>CADA PAQUETE INCLUYE: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880360"/>
            <a:ext cx="3566160" cy="292608"/>
          </a:xfrm>
          <a:prstGeom prst="rect">
            <a:avLst/>
          </a:prstGeom>
          <a:solidFill>
            <a:srgbClr val="2D0000"/>
          </a:solidFill>
          <a:ln w="12700">
            <a:solidFill>
              <a:srgbClr val="5D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8803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✈  Boleto aéreo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3218688"/>
            <a:ext cx="3566160" cy="292608"/>
          </a:xfrm>
          <a:prstGeom prst="rect">
            <a:avLst/>
          </a:prstGeom>
          <a:solidFill>
            <a:srgbClr val="2D0000"/>
          </a:solidFill>
          <a:ln w="12700">
            <a:solidFill>
              <a:srgbClr val="5D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2186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🚌  Traslados aeropuerto-hotel-estadio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557016"/>
            <a:ext cx="3566160" cy="292608"/>
          </a:xfrm>
          <a:prstGeom prst="rect">
            <a:avLst/>
          </a:prstGeom>
          <a:solidFill>
            <a:srgbClr val="2D0000"/>
          </a:solidFill>
          <a:ln w="12700">
            <a:solidFill>
              <a:srgbClr val="5D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5570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🏨  3 noches de hospedaje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0" y="2880360"/>
            <a:ext cx="3566160" cy="292608"/>
          </a:xfrm>
          <a:prstGeom prst="rect">
            <a:avLst/>
          </a:prstGeom>
          <a:solidFill>
            <a:srgbClr val="2D0000"/>
          </a:solidFill>
          <a:ln w="12700">
            <a:solidFill>
              <a:srgbClr val="5D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0" y="28803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🛡  Asistencia al viajero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0" y="3218688"/>
            <a:ext cx="3566160" cy="292608"/>
          </a:xfrm>
          <a:prstGeom prst="rect">
            <a:avLst/>
          </a:prstGeom>
          <a:solidFill>
            <a:srgbClr val="2D0000"/>
          </a:solidFill>
          <a:ln w="12700">
            <a:solidFill>
              <a:srgbClr val="5D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32186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🎁  Souvenir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4160520"/>
            <a:ext cx="8595360" cy="777240"/>
          </a:xfrm>
          <a:prstGeom prst="rect">
            <a:avLst/>
          </a:prstGeom>
          <a:solidFill>
            <a:srgbClr val="2D0000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206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</a:rPr>
              <a:t>MECÁNICA: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4622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Un (1) cupón digital por cada Bs 500 en compras de Hisense o Toshiba. Los cupones se DUPLICAN cuando la compra es en MiniCuotas.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B0000"/>
          </a:solidFill>
          <a:ln w="12700">
            <a:solidFill>
              <a:srgbClr val="3B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" y="4846320"/>
            <a:ext cx="16459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Lanzamiento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16 Mar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828800" y="4892040"/>
            <a:ext cx="0" cy="201168"/>
          </a:xfrm>
          <a:prstGeom prst="line">
            <a:avLst/>
          </a:prstGeom>
          <a:noFill/>
          <a:ln w="12700">
            <a:solidFill>
              <a:srgbClr val="5D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75104" y="4846320"/>
            <a:ext cx="16459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Cierre participación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31 May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21024" y="4892040"/>
            <a:ext cx="0" cy="201168"/>
          </a:xfrm>
          <a:prstGeom prst="line">
            <a:avLst/>
          </a:prstGeom>
          <a:noFill/>
          <a:ln w="12700">
            <a:solidFill>
              <a:srgbClr val="5D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67328" y="4846320"/>
            <a:ext cx="16459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Sorteo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 Jun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13248" y="4892040"/>
            <a:ext cx="0" cy="201168"/>
          </a:xfrm>
          <a:prstGeom prst="line">
            <a:avLst/>
          </a:prstGeom>
          <a:noFill/>
          <a:ln w="12700">
            <a:solidFill>
              <a:srgbClr val="5D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59552" y="4846320"/>
            <a:ext cx="16459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Entrega premios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5 Jun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205472" y="4892040"/>
            <a:ext cx="0" cy="201168"/>
          </a:xfrm>
          <a:prstGeom prst="line">
            <a:avLst/>
          </a:prstGeom>
          <a:noFill/>
          <a:ln w="12700">
            <a:solidFill>
              <a:srgbClr val="5D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51776" y="4846320"/>
            <a:ext cx="16459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Viaje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25-28 Jun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FA8DA"/>
                </a:solidFill>
              </a:rPr>
              <a:t>STARLINK  |  Disponible en DISMAC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KITS DE CONECTIVIDAD SATELITAL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3840480"/>
          </a:xfrm>
          <a:prstGeom prst="rect">
            <a:avLst/>
          </a:prstGeom>
          <a:solidFill>
            <a:srgbClr val="1A237E">
              <a:alpha val="80000"/>
            </a:srgbClr>
          </a:solidFill>
          <a:ln w="12700">
            <a:solidFill>
              <a:srgbClr val="3F51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114800" cy="6858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KIT STARLINK MINI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137160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700"/>
                </a:solidFill>
              </a:rPr>
              <a:t>Bs 2,200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60320" y="1417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CAF9"/>
                </a:solidFill>
              </a:rPr>
              <a:t>Bs 219.76 × 12 meses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8288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▸  WiFi 5 – Banda dual MU-MIMO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2402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▸  Hasta 128 dispositivos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6517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▸  Velocidad: 50-100 Mbps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0632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▸  Cobertura: 112 m (1200 pies)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4747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▸  Diseño liviano y portátil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8862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▸  Resistente a lluvia, viento y polvo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42976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▸  Ideal para vehículos y movilidad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005840"/>
            <a:ext cx="4114800" cy="3840480"/>
          </a:xfrm>
          <a:prstGeom prst="rect">
            <a:avLst/>
          </a:prstGeom>
          <a:solidFill>
            <a:srgbClr val="0D47A1">
              <a:alpha val="80000"/>
            </a:srgbClr>
          </a:solidFill>
          <a:ln w="12700">
            <a:solidFill>
              <a:srgbClr val="3F51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005840"/>
            <a:ext cx="4114800" cy="68580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0058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KIT STARLINK ESTÁNDAR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54880" y="137160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700"/>
                </a:solidFill>
              </a:rPr>
              <a:t>Bs 2,800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40880" y="1417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CAF9"/>
                </a:solidFill>
              </a:rPr>
              <a:t>Bs 278.72 × 12 meses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92040" y="18288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▸  WiFi 6 – MU-MIMO triple banda 4×4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22402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▸  Hasta 235 dispositivos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26517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▸  Velocidad: 110-200 Mbps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30632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▸  Cobertura: 297 m (3200 pies)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34747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▸  Compatible con sistema Mesh Gen2/3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38862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▸  Resistente a temperaturas extremas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42976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▸  Calefacción automática (nieve/hielo)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PLANES MENSUALES: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47731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0CAF9"/>
                </a:solidFill>
              </a:rPr>
              <a:t>Residencial  |  Bs 610  |  135-305 MB/s     Residencial Lite  |  Bs 460  |  80-200 MB/s     Itinerante 100GB  |  Bs 415  |  65-200 MB/s     Itinerante ILIMITADO  |  Bs 1100  |  65-260 MB/s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FA8DA"/>
                </a:solidFill>
              </a:rPr>
              <a:t>STARLINK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PREGUNTAS FRECUENTES DEL CLIENTE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1097280"/>
          </a:xfrm>
          <a:prstGeom prst="rect">
            <a:avLst/>
          </a:prstGeom>
          <a:solidFill>
            <a:srgbClr val="0D1B4A"/>
          </a:solidFill>
          <a:ln w="12700">
            <a:solidFill>
              <a:srgbClr val="3F51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114800" cy="36576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1498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0CAF9"/>
                </a:solidFill>
              </a:rPr>
              <a:t>❓  ¿Funciona en cualquier zona de Bolivia?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Sí, en zonas con cobertura satelital y vista despejada al cielo.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114800" cy="1097280"/>
          </a:xfrm>
          <a:prstGeom prst="rect">
            <a:avLst/>
          </a:prstGeom>
          <a:solidFill>
            <a:srgbClr val="0D1B4A"/>
          </a:solidFill>
          <a:ln w="12700">
            <a:solidFill>
              <a:srgbClr val="3F51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960120"/>
            <a:ext cx="4114800" cy="36576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1498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0CAF9"/>
                </a:solidFill>
              </a:rPr>
              <a:t>❓  ¿Necesita línea telefónica o fibra óptica?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0" y="14630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No. Es 100% satelital e independiente de cableado terrestre.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194560"/>
            <a:ext cx="4114800" cy="1097280"/>
          </a:xfrm>
          <a:prstGeom prst="rect">
            <a:avLst/>
          </a:prstGeom>
          <a:solidFill>
            <a:srgbClr val="0D1B4A"/>
          </a:solidFill>
          <a:ln w="12700">
            <a:solidFill>
              <a:srgbClr val="3F51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194560"/>
            <a:ext cx="4114800" cy="36576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942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0CAF9"/>
                </a:solidFill>
              </a:rPr>
              <a:t>❓  ¿Qué se necesita para instalar?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2697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Un espacio con vista libre al cielo y conexión eléctrica estable.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194560"/>
            <a:ext cx="4114800" cy="1097280"/>
          </a:xfrm>
          <a:prstGeom prst="rect">
            <a:avLst/>
          </a:prstGeom>
          <a:solidFill>
            <a:srgbClr val="0D1B4A"/>
          </a:solidFill>
          <a:ln w="12700">
            <a:solidFill>
              <a:srgbClr val="3F51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194560"/>
            <a:ext cx="4114800" cy="36576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24942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0CAF9"/>
                </a:solidFill>
              </a:rPr>
              <a:t>❓  ¿Se puede usar para juegos y streaming?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0" y="2697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Sí. Baja latencia (20-40 ms) ideal para streaming HD/4K y gaming.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429000"/>
            <a:ext cx="4114800" cy="1097280"/>
          </a:xfrm>
          <a:prstGeom prst="rect">
            <a:avLst/>
          </a:prstGeom>
          <a:solidFill>
            <a:srgbClr val="0D1B4A"/>
          </a:solidFill>
          <a:ln w="12700">
            <a:solidFill>
              <a:srgbClr val="3F51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429000"/>
            <a:ext cx="4114800" cy="36576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8386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0CAF9"/>
                </a:solidFill>
              </a:rPr>
              <a:t>❓  ¿El Kit Mini se puede trasladar?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39319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Sí, está diseñado para movilidad y vehículos en movimiento.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429000"/>
            <a:ext cx="4114800" cy="1097280"/>
          </a:xfrm>
          <a:prstGeom prst="rect">
            <a:avLst/>
          </a:prstGeom>
          <a:solidFill>
            <a:srgbClr val="0D1B4A"/>
          </a:solidFill>
          <a:ln w="12700">
            <a:solidFill>
              <a:srgbClr val="3F51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429000"/>
            <a:ext cx="4114800" cy="36576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48386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0CAF9"/>
                </a:solidFill>
              </a:rPr>
              <a:t>❓  ¿A quién se paga el servicio mensual?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54880" y="39319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Directamente en la plataforma oficial de Starlink (mensual, sin contrato forzoso).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1A237E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700"/>
                </a:solidFill>
              </a:rPr>
              <a:t>¿Quieres saber qué plan recomendar? → Hogares y negocios: Plan Estándar (Bs 610)  |  Uso moderado o rural: Plan Lite (Bs 460)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RESUMEN EJECUTIVO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C4DE"/>
                </a:solidFill>
              </a:rPr>
              <a:t>Todas las campañas activas de un vistazo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8778240" cy="34747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51560"/>
            <a:ext cx="210312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CAMPAÑA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31720" y="1051560"/>
            <a:ext cx="109728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MARCA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29000" y="1051560"/>
            <a:ext cx="118872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VIGENCIA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17720" y="1051560"/>
            <a:ext cx="265176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MECÁNICA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269480" y="1051560"/>
            <a:ext cx="201168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BENEFICIO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" y="1417320"/>
            <a:ext cx="8778240" cy="53035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417320"/>
            <a:ext cx="21031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9F0AE"/>
                </a:solidFill>
              </a:rPr>
              <a:t>Hinchas Incondicionales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31720" y="1417320"/>
            <a:ext cx="109728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Samsung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29000" y="1417320"/>
            <a:ext cx="11887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9 Feb – 13 Jun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17720" y="1417320"/>
            <a:ext cx="265176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Registra compra → Cupón digital → 4 sorteos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269480" y="1417320"/>
            <a:ext cx="201168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+400 premios, 7 viajes a México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2880" y="1984248"/>
            <a:ext cx="8778240" cy="530352"/>
          </a:xfrm>
          <a:prstGeom prst="rect">
            <a:avLst/>
          </a:prstGeom>
          <a:solidFill>
            <a:srgbClr val="0C1A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1984248"/>
            <a:ext cx="21031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9F0AE"/>
                </a:solidFill>
              </a:rPr>
              <a:t>Miracle Pack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331720" y="1984248"/>
            <a:ext cx="109728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Samsung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29000" y="1984248"/>
            <a:ext cx="11887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 Mar – 31 May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17720" y="1984248"/>
            <a:ext cx="265176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Compra S26 → Bandeo automático en tienda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269480" y="1984248"/>
            <a:ext cx="201168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Galaxy A07 + Cover original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82880" y="2551176"/>
            <a:ext cx="8778240" cy="53035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2551176"/>
            <a:ext cx="21031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9F0AE"/>
                </a:solidFill>
              </a:rPr>
              <a:t>Back To School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331720" y="2551176"/>
            <a:ext cx="109728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Samsung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29000" y="2551176"/>
            <a:ext cx="11887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Hasta 10 Mar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17720" y="2551176"/>
            <a:ext cx="265176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Compra Tablet → Cashback inmediato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269480" y="2551176"/>
            <a:ext cx="201168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Hasta Bs 800 en efectivo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82880" y="3118104"/>
            <a:ext cx="8778240" cy="530352"/>
          </a:xfrm>
          <a:prstGeom prst="rect">
            <a:avLst/>
          </a:prstGeom>
          <a:solidFill>
            <a:srgbClr val="0C1A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3118104"/>
            <a:ext cx="21031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9F0AE"/>
                </a:solidFill>
              </a:rPr>
              <a:t>Copa del Mundo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331720" y="3118104"/>
            <a:ext cx="109728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Hisense/Toshiba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429000" y="3118104"/>
            <a:ext cx="11887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16 Mar – 31 May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17720" y="3118104"/>
            <a:ext cx="265176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Bs 500 en compra = 1 cupón (doble en MiniCuotas)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269480" y="3118104"/>
            <a:ext cx="201168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 paquetes dobles a México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82880" y="3685032"/>
            <a:ext cx="8778240" cy="53035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" y="3685032"/>
            <a:ext cx="21031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9F0AE"/>
                </a:solidFill>
              </a:rPr>
              <a:t>Starlink Mini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331720" y="3685032"/>
            <a:ext cx="109728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Starlink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429000" y="3685032"/>
            <a:ext cx="11887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Disponible ahora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617720" y="3685032"/>
            <a:ext cx="265176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Venta directa en tienda + MiniCuotas 12 meses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269480" y="3685032"/>
            <a:ext cx="201168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Bs 2,200  |  Bs 219/mes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82880" y="4251960"/>
            <a:ext cx="8778240" cy="530352"/>
          </a:xfrm>
          <a:prstGeom prst="rect">
            <a:avLst/>
          </a:prstGeom>
          <a:solidFill>
            <a:srgbClr val="0C1A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8600" y="4251960"/>
            <a:ext cx="21031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9F0AE"/>
                </a:solidFill>
              </a:rPr>
              <a:t>Starlink Estándar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331720" y="4251960"/>
            <a:ext cx="109728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Starlink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429000" y="4251960"/>
            <a:ext cx="11887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Disponible ahora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617720" y="4251960"/>
            <a:ext cx="265176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Venta directa en tienda + MiniCuotas 12 meses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269480" y="4251960"/>
            <a:ext cx="201168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Bs 2,800  |  Bs 278/mes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Campañas Promocionales Dismac 2026</dc:title>
  <dc:subject>PptxGenJS Presentation</dc:subject>
  <dc:creator>PptxGenJS</dc:creator>
  <cp:lastModifiedBy>PptxGenJS</cp:lastModifiedBy>
  <cp:revision>1</cp:revision>
  <dcterms:created xsi:type="dcterms:W3CDTF">2026-03-04T02:42:20Z</dcterms:created>
  <dcterms:modified xsi:type="dcterms:W3CDTF">2026-03-04T02:42:20Z</dcterms:modified>
</cp:coreProperties>
</file>